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0"/>
  </p:handoutMasterIdLst>
  <p:sldIdLst>
    <p:sldId id="256" r:id="rId3"/>
    <p:sldId id="257" r:id="rId5"/>
    <p:sldId id="258" r:id="rId6"/>
    <p:sldId id="262" r:id="rId7"/>
    <p:sldId id="276" r:id="rId8"/>
    <p:sldId id="277" r:id="rId9"/>
    <p:sldId id="265" r:id="rId10"/>
    <p:sldId id="278" r:id="rId11"/>
    <p:sldId id="279" r:id="rId12"/>
    <p:sldId id="281" r:id="rId13"/>
    <p:sldId id="293" r:id="rId14"/>
    <p:sldId id="294" r:id="rId15"/>
    <p:sldId id="297" r:id="rId16"/>
    <p:sldId id="296" r:id="rId17"/>
    <p:sldId id="299" r:id="rId18"/>
    <p:sldId id="263" r:id="rId19"/>
    <p:sldId id="282" r:id="rId20"/>
    <p:sldId id="283" r:id="rId21"/>
    <p:sldId id="285" r:id="rId22"/>
    <p:sldId id="284" r:id="rId23"/>
    <p:sldId id="286" r:id="rId24"/>
    <p:sldId id="287" r:id="rId25"/>
    <p:sldId id="266" r:id="rId26"/>
    <p:sldId id="291" r:id="rId27"/>
    <p:sldId id="302" r:id="rId28"/>
    <p:sldId id="304" r:id="rId29"/>
    <p:sldId id="305" r:id="rId30"/>
    <p:sldId id="306" r:id="rId31"/>
    <p:sldId id="307" r:id="rId32"/>
    <p:sldId id="308" r:id="rId33"/>
    <p:sldId id="309" r:id="rId34"/>
    <p:sldId id="312" r:id="rId35"/>
    <p:sldId id="314" r:id="rId36"/>
    <p:sldId id="264" r:id="rId37"/>
    <p:sldId id="295" r:id="rId38"/>
    <p:sldId id="315" r:id="rId39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7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1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474" y="114"/>
      </p:cViewPr>
      <p:guideLst>
        <p:guide orient="horz" pos="1247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149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558B725A-BFDD-44D0-A8D3-61766B07B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20505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81770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95410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72245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985885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24620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139555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15095" y="6492875"/>
            <a:ext cx="2743200" cy="365125"/>
          </a:xfrm>
        </p:spPr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8AF6F278-ABF0-48CA-ADF0-1D43CCA8A1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jpeg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45.xml"/><Relationship Id="rId2" Type="http://schemas.openxmlformats.org/officeDocument/2006/relationships/tags" Target="../tags/tag28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image" Target="../media/image5.png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7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notesSlide" Target="../notesSlides/notesSlide18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image" Target="../media/image10.png"/><Relationship Id="rId14" Type="http://schemas.openxmlformats.org/officeDocument/2006/relationships/image" Target="../media/image9.png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9.png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notesSlide" Target="../notesSlides/notesSlide19.xml"/><Relationship Id="rId1" Type="http://schemas.openxmlformats.org/officeDocument/2006/relationships/tags" Target="../tags/tag10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0" Type="http://schemas.openxmlformats.org/officeDocument/2006/relationships/notesSlide" Target="../notesSlides/notesSlide31.xml"/><Relationship Id="rId1" Type="http://schemas.openxmlformats.org/officeDocument/2006/relationships/tags" Target="../tags/tag14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042035" y="1203960"/>
            <a:ext cx="104203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Impact of Shipping Connectivity and </a:t>
            </a:r>
            <a:r>
              <a:rPr lang="en-US" altLang="zh-CN" sz="4000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Deviation Costs on Port Resilience: Empirical Evidence from the Red Sea Crisis</a:t>
            </a:r>
            <a:endParaRPr lang="en-US" altLang="zh-CN" sz="4000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1060" y="3601085"/>
            <a:ext cx="1046924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Oral Presentation for</a:t>
            </a:r>
            <a:endParaRPr lang="en-US" altLang="zh-CN" b="1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5th Annual Conference on Port and Shipping Economic Systems Engineering  </a:t>
            </a:r>
            <a:endParaRPr lang="en-US" altLang="zh-CN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3rd Conference on Transport and Supply Chain Resilience and Digital Transformation</a:t>
            </a:r>
            <a:endParaRPr lang="en-US" altLang="zh-CN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3770" y="5121275"/>
            <a:ext cx="10597515" cy="1040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Zhenyuan PAN</a:t>
            </a:r>
            <a:r>
              <a:rPr lang="en-US" altLang="en-US" sz="1400"/>
              <a:t>¹*</a:t>
            </a:r>
            <a:r>
              <a:rPr lang="en-US" altLang="zh-CN" sz="1400"/>
              <a:t>, Qiwei SHAN</a:t>
            </a:r>
            <a:r>
              <a:rPr lang="en-US" altLang="en-US" sz="1400"/>
              <a:t>¹</a:t>
            </a:r>
            <a:endParaRPr lang="en-US" altLang="zh-CN" sz="1400"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ym typeface="+mn-ea"/>
              </a:rPr>
              <a:t>Supervisor: Dr. Yi XIAO (FBM, BNBU)</a:t>
            </a:r>
            <a:endParaRPr lang="en-US" altLang="zh-CN" sz="1400"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/>
              <a:t>¹</a:t>
            </a:r>
            <a:r>
              <a:rPr lang="en-US" altLang="zh-CN" sz="1400"/>
              <a:t> Faculty of Business and Management (FBM), Beijing Normal–Hong Kong Baptist University (BNBU), Zhuhai, China</a:t>
            </a:r>
            <a:endParaRPr lang="en-US" altLang="zh-CN" sz="1400"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/>
              <a:t>* Presenting author: s230001081@mail.uic.edu.cn</a:t>
            </a:r>
            <a:endParaRPr lang="en-US" altLang="zh-CN" sz="140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98525" y="925830"/>
            <a:ext cx="3303905" cy="104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800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US" altLang="zh-CN" sz="4800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>
          <a:xfrm>
            <a:off x="960919" y="1960194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01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872615" y="2089785"/>
            <a:ext cx="2952115" cy="690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800" dirty="0">
                <a:latin typeface="Arial" panose="020B0604020202020204" pitchFamily="34" charset="0"/>
                <a:ea typeface="Arial" panose="020B0604020202020204" pitchFamily="34" charset="0"/>
              </a:rPr>
              <a:t>Introduction</a:t>
            </a:r>
            <a:endParaRPr lang="en-US" altLang="zh-CN" sz="28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Red Sea shock: Suez </a:t>
            </a:r>
            <a:r>
              <a:rPr lang="en-US" altLang="en-US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→</a:t>
            </a: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Cape detours</a:t>
            </a:r>
            <a:endParaRPr lang="en-US" altLang="zh-CN" sz="10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From detours to exposure— which matters more?</a:t>
            </a:r>
            <a:endParaRPr lang="zh-CN" altLang="en-US" sz="1000" b="1"/>
          </a:p>
          <a:p>
            <a:pPr algn="just"/>
            <a:endParaRPr lang="zh-CN" altLang="en-US" sz="1000" b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椭圆 11"/>
          <p:cNvSpPr/>
          <p:nvPr>
            <p:custDataLst>
              <p:tags r:id="rId3"/>
            </p:custDataLst>
          </p:nvPr>
        </p:nvSpPr>
        <p:spPr>
          <a:xfrm>
            <a:off x="6430181" y="1960194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02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341235" y="2089785"/>
            <a:ext cx="3637915" cy="1482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</a:rPr>
              <a:t>Literature Review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Trade Networks</a:t>
            </a:r>
            <a:endParaRPr lang="en-US" altLang="zh-CN" sz="10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Port Resilience</a:t>
            </a:r>
            <a:endParaRPr lang="en-US" altLang="zh-CN" sz="10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0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Red Sea Shock Event</a:t>
            </a:r>
            <a:endParaRPr lang="en-US" altLang="zh-CN" sz="10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0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960919" y="3441939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03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1872615" y="3571875"/>
            <a:ext cx="4153535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2000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Method</a:t>
            </a:r>
            <a:endParaRPr lang="en-US" altLang="zh-CN" sz="2000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Data Sources &amp; Variable Construction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IMF PortWatch | Daily Port Activity &amp; Trade Estimates (Core dataset)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UNCTAD | PLSCI (port-level connectivity)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Ports metadata &amp; Natural Earth 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Marine Regions—IHO Sea Areas shapefile 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Main regression</a:t>
            </a: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900" b="1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Half Life </a:t>
            </a:r>
            <a:endParaRPr lang="en-US" altLang="zh-CN" sz="9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9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10000"/>
              </a:lnSpc>
            </a:pPr>
            <a:endParaRPr lang="en-US" altLang="zh-CN" sz="9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1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indent="0" algn="l">
              <a:lnSpc>
                <a:spcPct val="11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altLang="zh-CN" sz="900" b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6430181" y="3441939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04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341235" y="3578860"/>
                <a:ext cx="3545205" cy="7581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en-US" altLang="zh-CN" sz="2400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Results &amp; Discussion</a:t>
                </a:r>
                <a:endParaRPr lang="en-US" altLang="zh-CN" sz="2400" dirty="0"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Baseline dynamic impact of exposure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900" b="1" dirty="0">
                            <a:latin typeface="Arial" panose="020B0604020202020204" pitchFamily="34" charset="0"/>
                            <a:ea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900" b="1" dirty="0">
                            <a:latin typeface="Arial" panose="020B0604020202020204" pitchFamily="34" charset="0"/>
                            <a:ea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altLang="zh-CN" sz="900" b="1" dirty="0">
                            <a:latin typeface="Arial" panose="020B0604020202020204" pitchFamily="34" charset="0"/>
                            <a:ea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 on port calls</a:t>
                </a: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Flow pattern by exposure quartiles</a:t>
                </a: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Effect of network exposure on port calls, East/Southeast Asia basin</a:t>
                </a: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Effect of Geographic exposure on exports, North Atlantic basin</a:t>
                </a: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sz="900" b="1" dirty="0"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Effect of geographic detour E^2 on exports, North Atlantic basin</a:t>
                </a: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0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1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sz="900" b="1" dirty="0"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7341235" y="3578860"/>
                <a:ext cx="3545205" cy="758190"/>
              </a:xfrm>
              <a:prstGeom prst="rect">
                <a:avLst/>
              </a:prstGeom>
              <a:blipFill rotWithShape="1">
                <a:blip r:embed="rId10"/>
                <a:stretch>
                  <a:fillRect b="-236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/>
          <p:cNvSpPr/>
          <p:nvPr>
            <p:custDataLst>
              <p:tags r:id="rId11"/>
            </p:custDataLst>
          </p:nvPr>
        </p:nvSpPr>
        <p:spPr>
          <a:xfrm>
            <a:off x="960919" y="5133864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05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1872615" y="5264150"/>
            <a:ext cx="4023360" cy="700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Conclusion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13"/>
            </p:custDataLst>
          </p:nvPr>
        </p:nvSpPr>
        <p:spPr>
          <a:xfrm>
            <a:off x="6430181" y="5133864"/>
            <a:ext cx="767587" cy="767587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</a:rPr>
              <a:t>06</a:t>
            </a:r>
            <a:endParaRPr lang="zh-CN" alt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7341235" y="5271135"/>
            <a:ext cx="3637280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400" dirty="0">
                <a:latin typeface="Arial" panose="020B0604020202020204" pitchFamily="34" charset="0"/>
                <a:ea typeface="Arial" panose="020B0604020202020204" pitchFamily="34" charset="0"/>
              </a:rPr>
              <a:t>References</a:t>
            </a:r>
            <a:endParaRPr lang="en-US" altLang="zh-CN" sz="24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77038" y="485934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057481" y="2373186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  <a:endParaRPr lang="zh-CN" altLang="en-US" sz="13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21480" y="2432050"/>
            <a:ext cx="5217160" cy="1091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6600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Introduction</a:t>
            </a:r>
            <a:endParaRPr lang="en-US" altLang="zh-CN" sz="6600" b="1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dist"/>
            <a:endParaRPr lang="en-US" altLang="zh-CN" sz="6600" b="1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393044" y="350900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293870" y="3742690"/>
            <a:ext cx="605091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Red Sea shock: Suez </a:t>
            </a:r>
            <a:r>
              <a:rPr lang="en-US" altLang="en-US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→</a:t>
            </a: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Cape detours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From detours to exposure— which matters more?</a:t>
            </a:r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 rot="5400000">
            <a:off x="11262995" y="2051685"/>
            <a:ext cx="967740" cy="537845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9982" y="300072"/>
            <a:ext cx="2839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Introduction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37045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Red Sea shock: Suez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Cape detours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>
            <p:custDataLst>
              <p:tags r:id="rId2"/>
            </p:custDataLst>
          </p:nvPr>
        </p:nvGrpSpPr>
        <p:grpSpPr>
          <a:xfrm>
            <a:off x="6617970" y="1837055"/>
            <a:ext cx="5304790" cy="98869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28" name="矩形 27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 30"/>
          <p:cNvSpPr/>
          <p:nvPr>
            <p:custDataLst>
              <p:tags r:id="rId5"/>
            </p:custDataLst>
          </p:nvPr>
        </p:nvSpPr>
        <p:spPr>
          <a:xfrm>
            <a:off x="6758940" y="1940560"/>
            <a:ext cx="5163820" cy="919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6806565" y="3270250"/>
            <a:ext cx="5273675" cy="15462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>
            <a:off x="6806565" y="5125085"/>
            <a:ext cx="5274310" cy="158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8"/>
            </p:custDataLst>
          </p:nvPr>
        </p:nvGrpSpPr>
        <p:grpSpPr>
          <a:xfrm>
            <a:off x="6686953" y="3166598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9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10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>
            <p:custDataLst>
              <p:tags r:id="rId11"/>
            </p:custDataLst>
          </p:nvPr>
        </p:nvGrpSpPr>
        <p:grpSpPr>
          <a:xfrm>
            <a:off x="6686953" y="502713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>
              <p:custDataLst>
                <p:tags r:id="rId12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13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feyrer fig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955" y="2162175"/>
            <a:ext cx="6296025" cy="32480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2890" y="5581650"/>
            <a:ext cx="5974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Figure 1: Mumbai to London – the Suez Canal versus the Cape of Good Hope (Feyrer, 2009)</a:t>
            </a:r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799465" y="1149350"/>
            <a:ext cx="10888345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Detouring via the Cape (Asia–Europe) typically adds ~10–14 days of transit</a:t>
            </a:r>
            <a:endParaRPr lang="en-US" altLang="zh-CN" sz="2400"/>
          </a:p>
        </p:txBody>
      </p:sp>
      <p:sp>
        <p:nvSpPr>
          <p:cNvPr id="10" name="文本框 9"/>
          <p:cNvSpPr txBox="1"/>
          <p:nvPr/>
        </p:nvSpPr>
        <p:spPr>
          <a:xfrm>
            <a:off x="7109460" y="2197735"/>
            <a:ext cx="1319530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/>
          </a:p>
        </p:txBody>
      </p:sp>
      <p:sp>
        <p:nvSpPr>
          <p:cNvPr id="11" name="文本框 10"/>
          <p:cNvSpPr txBox="1"/>
          <p:nvPr/>
        </p:nvSpPr>
        <p:spPr>
          <a:xfrm>
            <a:off x="6849745" y="2117090"/>
            <a:ext cx="5116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Detour cost:</a:t>
            </a:r>
            <a:r>
              <a:rPr lang="en-US" altLang="zh-CN" sz="2800"/>
              <a:t> </a:t>
            </a:r>
            <a:r>
              <a:rPr lang="en-US" altLang="zh-CN" sz="2800">
                <a:ea typeface="Arial" panose="020B0604020202020204" pitchFamily="34" charset="0"/>
              </a:rPr>
              <a:t>Port exposure  </a:t>
            </a:r>
            <a:r>
              <a:rPr lang="en-US" altLang="zh-CN" sz="2800" i="1">
                <a:ea typeface="Arial" panose="020B0604020202020204" pitchFamily="34" charset="0"/>
              </a:rPr>
              <a:t>E</a:t>
            </a:r>
            <a:endParaRPr lang="en-US" altLang="zh-CN" sz="2800" i="1"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901815" y="3360420"/>
                <a:ext cx="1319530" cy="7067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𝒈𝒆𝒐</m:t>
                          </m:r>
                        </m:sub>
                      </m:sSub>
                    </m:oMath>
                  </m:oMathPara>
                </a14:m>
                <a:endParaRPr lang="en-US" altLang="zh-CN" sz="2400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815" y="3360420"/>
                <a:ext cx="1319530" cy="70675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8246745" y="3360420"/>
            <a:ext cx="3170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/>
              <a:t>Δkm (Suez</a:t>
            </a:r>
            <a:r>
              <a:rPr lang="en-US" altLang="en-US" sz="2400"/>
              <a:t>→</a:t>
            </a:r>
            <a:r>
              <a:rPr lang="en-US" altLang="zh-CN" sz="2400"/>
              <a:t>Cape)</a:t>
            </a:r>
            <a:endParaRPr lang="en-US" altLang="zh-CN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6901815" y="5281930"/>
                <a:ext cx="1439545" cy="5632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𝑛𝑒𝑡</m:t>
                          </m:r>
                        </m:sub>
                      </m:sSub>
                    </m:oMath>
                  </m:oMathPara>
                </a14:m>
                <a:endParaRPr lang="en-US" altLang="zh-CN" sz="2400" b="1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815" y="5281930"/>
                <a:ext cx="1439545" cy="56324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8275955" y="5260975"/>
            <a:ext cx="3373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/>
              <a:t>PLSCI (2019–2023)</a:t>
            </a:r>
            <a:endParaRPr lang="en-US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6776085" y="3869055"/>
            <a:ext cx="538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High E_gro: </a:t>
            </a:r>
            <a:r>
              <a:rPr lang="en-US" altLang="zh-CN">
                <a:ea typeface="Arial" panose="020B0604020202020204" pitchFamily="34" charset="0"/>
              </a:rPr>
              <a:t>Asia–Europe trunk; Shanghai–Piraeus</a:t>
            </a:r>
            <a:endParaRPr lang="en-US" altLang="zh-CN">
              <a:ea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8785" y="4311650"/>
            <a:ext cx="538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Low E_gro: </a:t>
            </a:r>
            <a:r>
              <a:rPr lang="en-US" altLang="zh-CN">
                <a:ea typeface="Arial" panose="020B0604020202020204" pitchFamily="34" charset="0"/>
              </a:rPr>
              <a:t>Trans-Pacific; Shanghai–Los Angeles</a:t>
            </a:r>
            <a:endParaRPr lang="en-US" altLang="zh-CN">
              <a:ea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11645" y="5770880"/>
            <a:ext cx="538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High E_net: </a:t>
            </a:r>
            <a:r>
              <a:rPr lang="en-US" altLang="zh-CN">
                <a:ea typeface="Arial" panose="020B0604020202020204" pitchFamily="34" charset="0"/>
              </a:rPr>
              <a:t>Global/regional hubs; Singapore</a:t>
            </a:r>
            <a:endParaRPr lang="en-US" altLang="zh-CN">
              <a:ea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02755" y="6257925"/>
            <a:ext cx="538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Low E_net: Remote p</a:t>
            </a:r>
            <a:r>
              <a:rPr lang="en-US" altLang="zh-CN">
                <a:ea typeface="Arial" panose="020B0604020202020204" pitchFamily="34" charset="0"/>
              </a:rPr>
              <a:t>orts reliant on transshipment; </a:t>
            </a:r>
            <a:endParaRPr lang="en-US" altLang="zh-CN">
              <a:ea typeface="Arial" panose="020B0604020202020204" pitchFamily="34" charset="0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9982" y="300072"/>
            <a:ext cx="28394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Introduction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4718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From detours to exposure— which matters more?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450215" y="2266950"/>
            <a:ext cx="10694670" cy="1150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450215" y="3679825"/>
            <a:ext cx="10694670" cy="1150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330603" y="2163298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4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5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>
            <p:custDataLst>
              <p:tags r:id="rId6"/>
            </p:custDataLst>
          </p:nvPr>
        </p:nvGrpSpPr>
        <p:grpSpPr>
          <a:xfrm>
            <a:off x="330603" y="358187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>
              <p:custDataLst>
                <p:tags r:id="rId7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8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81635" y="1398270"/>
            <a:ext cx="11096625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Objective: Identify port resilience; compare two exposure dimensions</a:t>
            </a:r>
            <a:endParaRPr lang="en-US" altLang="zh-CN" sz="2400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50875" y="2486660"/>
            <a:ext cx="103822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RQ1</a:t>
            </a:r>
            <a:endParaRPr lang="en-US" altLang="zh-CN" sz="2800" b="1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1889760" y="2308860"/>
            <a:ext cx="91662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800"/>
              <a:t>Do ports with lower pre-shock connectivity/ exposure suffer larger drops? does connectivity cushion impacts?</a:t>
            </a:r>
            <a:endParaRPr lang="en-US" altLang="zh-CN" sz="2800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50875" y="3910965"/>
            <a:ext cx="111887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800" b="1"/>
              <a:t>RQ2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889760" y="3778885"/>
                <a:ext cx="9387205" cy="956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2800"/>
                  <a:t>Which explains heterogeneity better: trade/network exposure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 sz="2800"/>
                  <a:t>) or geographic detour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𝑔𝑒𝑜</m:t>
                        </m:r>
                      </m:sub>
                    </m:sSub>
                  </m:oMath>
                </a14:m>
                <a:r>
                  <a:rPr lang="en-US" altLang="zh-CN" sz="2800"/>
                  <a:t>)?</a:t>
                </a:r>
                <a:endParaRPr lang="en-US" altLang="zh-CN" sz="28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1889760" y="3778885"/>
                <a:ext cx="9387205" cy="95694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>
            <p:custDataLst>
              <p:tags r:id="rId15"/>
            </p:custDataLst>
          </p:nvPr>
        </p:nvSpPr>
        <p:spPr>
          <a:xfrm>
            <a:off x="450215" y="5179060"/>
            <a:ext cx="10694670" cy="1150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16"/>
            </p:custDataLst>
          </p:nvPr>
        </p:nvGrpSpPr>
        <p:grpSpPr>
          <a:xfrm>
            <a:off x="330603" y="5081114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17" name="矩形 16"/>
            <p:cNvSpPr/>
            <p:nvPr>
              <p:custDataLst>
                <p:tags r:id="rId17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18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650875" y="5410200"/>
            <a:ext cx="111887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800" b="1"/>
              <a:t>RQ3</a:t>
            </a:r>
            <a:endParaRPr lang="en-US" altLang="zh-CN" sz="2400" b="1"/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1889760" y="5491480"/>
            <a:ext cx="93872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800"/>
              <a:t>How fast is recovery? Report a port-level half-life metric τ</a:t>
            </a:r>
            <a:r>
              <a:rPr lang="en-US" altLang="en-US" sz="2800"/>
              <a:t>ᵢ</a:t>
            </a:r>
            <a:endParaRPr lang="en-US" altLang="en-US" sz="280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Arial" panose="020B0604020202020204" pitchFamily="34" charset="0"/>
              </a:rPr>
              <a:t>2</a:t>
            </a:r>
            <a:endParaRPr lang="en-US" altLang="zh-CN" sz="13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985" y="2420811"/>
            <a:ext cx="5760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Literature Review</a:t>
            </a:r>
            <a:endParaRPr lang="en-US" altLang="zh-CN" sz="4800" b="1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428999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76750" y="3500120"/>
            <a:ext cx="6315075" cy="2582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Trade Networks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Port Resilience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Red Sea Shock Event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Research </a:t>
            </a: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gap and contribution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655" y="210185"/>
            <a:ext cx="8038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Literature Review——Trade Networks.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79193" y="16002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34950" y="1056640"/>
            <a:ext cx="7625715" cy="5671185"/>
          </a:xfrm>
          <a:prstGeom prst="rect">
            <a:avLst/>
          </a:prstGeom>
          <a:solidFill>
            <a:srgbClr val="1C48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67970" y="1054100"/>
            <a:ext cx="58724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Vulnerability and Connectivity of Trade Networks</a:t>
            </a:r>
            <a:endParaRPr lang="en-US" altLang="zh-CN" sz="24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>
            <a:off x="384200" y="1884268"/>
            <a:ext cx="64369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01930" y="2442845"/>
            <a:ext cx="7512050" cy="4541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Importance &amp; Dependence: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Global trade relies heavily on maritime networks, which are both a source of efficiency and a conduit for shock propagation 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(Bernhofen et al., 2016; Feyrer, 2021)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b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Chokepoint risk: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Highly connected systems typically raise efficiency, but when critical chokepoints are disrupted, concentration at those nodes amplifies shock transmission and slows recovery (Carvalho et al., 2021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；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Acemoglu et al, 2012).</a:t>
            </a:r>
            <a:b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Sensitivity: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Complex-network and simulation studies show that the global container-shipping network is highly sensitive to several maritime chokepoints (Malacca, Suez, Panama) (Verschuur et al., 2022).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765" y="1946910"/>
            <a:ext cx="4907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Why Study “Vulnerability </a:t>
            </a:r>
            <a:r>
              <a:rPr lang="en-US" altLang="en-US" b="1">
                <a:solidFill>
                  <a:schemeClr val="bg1"/>
                </a:solidFill>
              </a:rPr>
              <a:t>×</a:t>
            </a:r>
            <a:r>
              <a:rPr lang="en-US" altLang="zh-CN" b="1">
                <a:solidFill>
                  <a:schemeClr val="bg1"/>
                </a:solidFill>
              </a:rPr>
              <a:t> Connectivity”?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50505" y="407035"/>
            <a:ext cx="438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 port-centric syllogism: Shipping matters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888605" y="982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Ports matter in shipping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888605" y="16008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Port risk scales up to macro risk</a:t>
            </a:r>
            <a:endParaRPr lang="en-US" altLang="zh-CN"/>
          </a:p>
        </p:txBody>
      </p:sp>
      <p:sp>
        <p:nvSpPr>
          <p:cNvPr id="17" name="下箭头 16"/>
          <p:cNvSpPr/>
          <p:nvPr/>
        </p:nvSpPr>
        <p:spPr>
          <a:xfrm>
            <a:off x="8060055" y="737235"/>
            <a:ext cx="127635" cy="32004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051800" y="1326515"/>
            <a:ext cx="127635" cy="32004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/>
          <p:nvPr/>
        </p:nvGraphicFramePr>
        <p:xfrm>
          <a:off x="7975600" y="1991995"/>
          <a:ext cx="4152900" cy="4809490"/>
        </p:xfrm>
        <a:graphic>
          <a:graphicData uri="http://schemas.openxmlformats.org/drawingml/2006/table">
            <a:tbl>
              <a:tblPr/>
              <a:tblGrid>
                <a:gridCol w="1072515"/>
                <a:gridCol w="1557655"/>
                <a:gridCol w="1522730"/>
              </a:tblGrid>
              <a:tr h="28067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Framework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Keywords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Papers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</a:tr>
              <a:tr h="24701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Global trade's dependence on maritime networks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Maritime trade; network effects; transport efficiency vs. fragility; import-basket dependence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(Xu et al., 2020)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A456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248920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(Wu et al., 2024)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48831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(Korniyenko et al., 2017)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24701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Structural vulnerability of shipping networks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Small-world/scale-free structure; core–hub concentration; node-degree centralization; connectivity &amp; robustness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(Xu et al., 2020)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24828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(Wang et al., 2016)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68135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(Wang et al., 2022)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48450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Systemic risk amplification via ports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Port disruptions; marine chokepoints; rerouting costs; supply-chain interruption; macro exposure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(Achurra-Gonzalez et al., 2019)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24828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(Pratson, 2023)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483870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(Verschuur &amp; Hall, 2024)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24828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Empirical &amp; simulation evidence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Static/dynamic resilience; cascading failures; disruption simulations; recovery assessment; review synthesis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(Bai et al., 2023)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48196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(Korniyenko et al., 2017)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9FC"/>
                    </a:solidFill>
                  </a:tcPr>
                </a:tc>
              </a:tr>
              <a:tr h="421005"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(Faure &amp; Ducruet, 2025)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D0D0D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655" y="210185"/>
            <a:ext cx="8038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Literature Review——Port Resilience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79193" y="16002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148590" y="1056640"/>
            <a:ext cx="7740650" cy="5721350"/>
          </a:xfrm>
          <a:prstGeom prst="rect">
            <a:avLst/>
          </a:prstGeom>
          <a:solidFill>
            <a:srgbClr val="1C48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48590" y="1168400"/>
            <a:ext cx="787273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Port Resilience: Concept, Importance, and Systemic Risk</a:t>
            </a:r>
            <a:endParaRPr lang="en-US" altLang="zh-CN" sz="2200" b="1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>
            <a:off x="353720" y="1678528"/>
            <a:ext cx="64369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01930" y="2138045"/>
            <a:ext cx="7512050" cy="4639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Concept &amp; mechanism: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Port resilience = ability to anticipate, prepare, respond, and recover while maintaining core functions (Lau et al., 2024).</a:t>
            </a:r>
            <a:b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Importance: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Time is trade cost: daily delays cut trade; faster recovery curbs losses (Djankov et al., 2010; Hummels &amp; Schaur, 2013; Feyrer, 2021).</a:t>
            </a:r>
            <a:b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Risk profiling: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Coupled port–supply-chain models reveal system-critical ports; outages spill across regions; scenarios quantify at-risk trade (Verschuur et al., 2022; Verschuur et al., 2023).</a:t>
            </a:r>
            <a:b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Cost of weak resilience: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Local port shocks propagate and amplify through production networks, generating macro losses (Carvalho et al., 2021; Acemoglu et al., 2012).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50505" y="155575"/>
            <a:ext cx="43878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Define resilience (APRR)</a:t>
            </a:r>
            <a:endParaRPr lang="en-US" altLang="zh-CN" sz="1600"/>
          </a:p>
        </p:txBody>
      </p:sp>
      <p:sp>
        <p:nvSpPr>
          <p:cNvPr id="7" name="文本框 6"/>
          <p:cNvSpPr txBox="1"/>
          <p:nvPr/>
        </p:nvSpPr>
        <p:spPr>
          <a:xfrm>
            <a:off x="7888605" y="661035"/>
            <a:ext cx="43027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Importance in ports (time-as-cost; TTR)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7888605" y="1164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System-critical nodes &amp; exposure</a:t>
            </a:r>
            <a:endParaRPr lang="en-US" altLang="zh-CN"/>
          </a:p>
        </p:txBody>
      </p:sp>
      <p:sp>
        <p:nvSpPr>
          <p:cNvPr id="17" name="下箭头 16"/>
          <p:cNvSpPr/>
          <p:nvPr/>
        </p:nvSpPr>
        <p:spPr>
          <a:xfrm>
            <a:off x="8060055" y="534670"/>
            <a:ext cx="119380" cy="20066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8065770" y="1012190"/>
            <a:ext cx="114300" cy="202565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4950" y="1742440"/>
            <a:ext cx="761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Definition (APRR), time as cost, critical ports, spillovers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14640" y="1675130"/>
            <a:ext cx="4435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/>
              <a:t>Weak resilience → network amplification </a:t>
            </a:r>
            <a:r>
              <a:rPr lang="en-US" altLang="zh-CN"/>
              <a:t>→ macro losses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8060055" y="1516380"/>
            <a:ext cx="114300" cy="202565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" name="表格 14"/>
          <p:cNvGraphicFramePr/>
          <p:nvPr/>
        </p:nvGraphicFramePr>
        <p:xfrm>
          <a:off x="8021320" y="2397760"/>
          <a:ext cx="4064000" cy="4312920"/>
        </p:xfrm>
        <a:graphic>
          <a:graphicData uri="http://schemas.openxmlformats.org/drawingml/2006/table">
            <a:tbl>
              <a:tblPr/>
              <a:tblGrid>
                <a:gridCol w="1049655"/>
                <a:gridCol w="1524635"/>
                <a:gridCol w="1489710"/>
              </a:tblGrid>
              <a:tr h="51879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Framework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Keywords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Papers 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C5F8D"/>
                    </a:solidFill>
                  </a:tcPr>
                </a:tc>
              </a:tr>
              <a:tr h="1012190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Port resilience: definition &amp; mechanisms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APRR; multi-dimensional; governance &amp; digitalization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(Tsoulfas, 2025); (Gharehgozli et al., 2017); (John et al., 2016)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758825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Why resilience matters for trade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costs; time; trade elasticity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(Clark et al., 2004); (Blonigen &amp; Wilson, 2008)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1011555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Risk profiling &amp; systemic nodes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critical ports/sea-lanes; targeted vs. random failure; disruption simulation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(Verschuur et al., 2022); (Wu et al., 2018); (He et al., 2022)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1011555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Consequences of weak resilience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network amplification; multi-hazard risk; economic losses &amp; mitigation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(Rose et al., 2018); (Verschuur et al., 2023); (Zhang &amp; Lam, 2015)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8245475" y="982345"/>
            <a:ext cx="3803650" cy="58756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3065" y="238760"/>
            <a:ext cx="7367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Review——Red Sea Shock Event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490720" y="981710"/>
            <a:ext cx="3754755" cy="5876290"/>
          </a:xfrm>
          <a:prstGeom prst="rect">
            <a:avLst/>
          </a:prstGeom>
          <a:solidFill>
            <a:srgbClr val="1C48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4571367" y="107075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4806199" y="15886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4571367" y="1708455"/>
            <a:ext cx="3567718" cy="4418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In late-2023, Houthi attacks (after the 19 Nov seizure of Galaxy Leader) led major liners to suspend Red Sea/Suez routes; a US-led escort began on 18 Dec, but risk still triggered large-scale rerouting ((U.S. Department of Defense, 2023; A. P. Moller–Maersk, 2023; United Nations Security Council, 2024).).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245475" y="1071245"/>
            <a:ext cx="4109085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2. Rerouting Costs &amp; rates.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7"/>
            </p:custDataLst>
          </p:nvPr>
        </p:nvCxnSpPr>
        <p:spPr>
          <a:xfrm>
            <a:off x="8340745" y="1531461"/>
            <a:ext cx="425665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244840" y="1694815"/>
            <a:ext cx="3570605" cy="441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Ships detoured via the Cape of Good Hope, adding roughly 10–14 days; Suez-routed trade fell by about half (Jan–Feb 2024), Bab-el-Mandeb transits dropped ~70% by end-Q1, while Cape oil/product flows rose ~50% vs 2023 averages.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40000"/>
              </a:lnSpc>
              <a:buClrTx/>
              <a:buSzTx/>
              <a:buFontTx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Longer routes and higher security risk increased sailing time, insurance, and freight rates; regional shipping activity declined.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>
              <a:lnSpc>
                <a:spcPct val="140000"/>
              </a:lnSpc>
              <a:buClrTx/>
              <a:buSzTx/>
              <a:buFontTx/>
            </a:pP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375" y="1694815"/>
            <a:ext cx="4033520" cy="32886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85420" y="5316220"/>
            <a:ext cx="4465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Figure 2: Esri, Vantor, Earthstar Geographics, and the GIS User Community | Esri, TomTom, FAO, NOAA, USGS</a:t>
            </a:r>
            <a:endParaRPr lang="en-US" altLang="zh-CN" sz="1200"/>
          </a:p>
          <a:p>
            <a:r>
              <a:rPr lang="en-US" altLang="zh-CN" sz="1200"/>
              <a:t>Source: International Monetary Fund (2024).</a:t>
            </a:r>
            <a:endParaRPr lang="en-US" altLang="zh-CN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Review——Red Sea Shock Event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06375" y="981710"/>
            <a:ext cx="11734800" cy="5876290"/>
          </a:xfrm>
          <a:prstGeom prst="rect">
            <a:avLst/>
          </a:prstGeom>
          <a:solidFill>
            <a:srgbClr val="1C48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93067" y="119013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>
            <a:off x="392949" y="15886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94640" y="1708150"/>
            <a:ext cx="11647170" cy="5062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1.  (Dunn &amp; Leibovici, 2024): Houthi attacks in the Red Sea caused a ~70% drop in Bab-el-Mandeb/Suez traffic. This drove global shipping costs to more than double in a few months. global port-export volumes fell over 7% year-on-year by early Feb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2024.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2. (Merk, 2024): The Red Sea–Suez route normally carries ~14% of global trade (30% of container trade) Transit via the Cape adds ~10–14 days and about $1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million in fuel cost per Asia–Europe voyage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3. (Notteboom et al., 2024) Early impacts included vessel re-routing and blanked sailings, shifts in major shipping networks, and sharp increases in insurance and freight rates. full impacts will only be clear once stability returns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4. (Kamali et al., 2024): Concurrently, port call activity fell by 5–7% in regions like sub-Saharan Africa, Europe, and the Middle East.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5. Supply Chain Resilience and Policy (2024): Inventory-rich firms managed to cushion short-term shocks, and global supply chains absorbed ~2 weeks of extra transit by Spring 2024 (clearing backlogs within two months) according to McKinsey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Review--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Identification design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3067" y="339993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4806199" y="37984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826250" y="5471160"/>
            <a:ext cx="382524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2800" b="1"/>
              <a:t>Identification design</a:t>
            </a:r>
            <a:endParaRPr lang="en-US" altLang="zh-CN" sz="2800" b="1"/>
          </a:p>
        </p:txBody>
      </p:sp>
      <p:sp>
        <p:nvSpPr>
          <p:cNvPr id="5" name="文本框 4"/>
          <p:cNvSpPr txBox="1"/>
          <p:nvPr/>
        </p:nvSpPr>
        <p:spPr>
          <a:xfrm>
            <a:off x="7822565" y="4663440"/>
            <a:ext cx="2828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Exposure measurement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344535" y="3855720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Resilience metrics</a:t>
            </a:r>
            <a:endParaRPr lang="en-US" altLang="zh-CN" sz="1800"/>
          </a:p>
        </p:txBody>
      </p:sp>
      <p:sp>
        <p:nvSpPr>
          <p:cNvPr id="12" name="文本框 11"/>
          <p:cNvSpPr txBox="1"/>
          <p:nvPr/>
        </p:nvSpPr>
        <p:spPr>
          <a:xfrm>
            <a:off x="8246110" y="3031490"/>
            <a:ext cx="240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Geopolitical setting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916545" y="2001520"/>
            <a:ext cx="273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Actionability &amp; portability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261620" y="3384550"/>
            <a:ext cx="5833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Binary / Descriptive shock designs</a:t>
            </a:r>
            <a:endParaRPr lang="en-US" altLang="zh-CN" b="1"/>
          </a:p>
          <a:p>
            <a:r>
              <a:rPr lang="en-US" altLang="zh-CN"/>
              <a:t>(Kamali et al., 2024); (Dunn &amp; Leibovici, 2024); (Wang, Fang, Yu, Hu, &amp; Gong, 2024)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261620" y="4525010"/>
            <a:ext cx="5026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Quasi-experimental distance shocks</a:t>
            </a:r>
            <a:endParaRPr lang="en-US" altLang="zh-CN" b="1"/>
          </a:p>
          <a:p>
            <a:r>
              <a:rPr lang="en-US" altLang="zh-CN"/>
              <a:t>(Feyrer, 2021); (Hugot &amp; Umana Dajud, 2016)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261620" y="5410835"/>
            <a:ext cx="5799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Macro VAR / GE simulations</a:t>
            </a:r>
            <a:endParaRPr lang="en-US" altLang="zh-CN" b="1"/>
          </a:p>
          <a:p>
            <a:r>
              <a:rPr lang="en-US" altLang="zh-CN"/>
              <a:t>(Attinasi et al., 2024); (Carrière-Swallow et al., 2022); (Pratson, 2023); (González &amp; Costa de Arguibel, 2025); (Hamano &amp; Vermeulen, 2020)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261620" y="1518285"/>
                <a:ext cx="5833110" cy="9296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b="1">
                    <a:sym typeface="+mn-ea"/>
                  </a:rPr>
                  <a:t>1. Continuous-intensity DID at the port level: </a:t>
                </a:r>
                <a:r>
                  <a:rPr lang="en-US" altLang="zh-CN" sz="2000">
                    <a:cs typeface="+mn-lt"/>
                    <a:sym typeface="+mn-ea"/>
                  </a:rPr>
                  <a:t> </a:t>
                </a:r>
                <a:endParaRPr lang="en-US" altLang="zh-CN" sz="2000">
                  <a:cs typeface="+mn-lt"/>
                  <a:sym typeface="+mn-ea"/>
                </a:endParaRPr>
              </a:p>
              <a:p>
                <a:r>
                  <a:rPr lang="en-US" altLang="zh-CN">
                    <a:sym typeface="+mn-ea"/>
                  </a:rPr>
                  <a:t>Port-month DID event study with continuous exposure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𝐸</m:t>
                    </m:r>
                  </m:oMath>
                </a14:m>
                <a:r>
                  <a:rPr lang="en-US" altLang="zh-CN">
                    <a:sym typeface="+mn-ea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/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20" y="1518285"/>
                <a:ext cx="5833110" cy="929640"/>
              </a:xfrm>
              <a:prstGeom prst="rect">
                <a:avLst/>
              </a:prstGeom>
              <a:blipFill rotWithShape="1">
                <a:blip r:embed="rId3"/>
                <a:stretch>
                  <a:fillRect b="-29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上箭头 28"/>
          <p:cNvSpPr/>
          <p:nvPr>
            <p:custDataLst>
              <p:tags r:id="rId4"/>
            </p:custDataLst>
          </p:nvPr>
        </p:nvSpPr>
        <p:spPr>
          <a:xfrm>
            <a:off x="10945495" y="681355"/>
            <a:ext cx="819785" cy="4584700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1030585" y="5187950"/>
            <a:ext cx="650240" cy="1670050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上箭头 30"/>
          <p:cNvSpPr/>
          <p:nvPr>
            <p:custDataLst>
              <p:tags r:id="rId5"/>
            </p:custDataLst>
          </p:nvPr>
        </p:nvSpPr>
        <p:spPr>
          <a:xfrm>
            <a:off x="11176635" y="2928620"/>
            <a:ext cx="819785" cy="2441575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>
          <a:xfrm flipH="1">
            <a:off x="11374755" y="5370195"/>
            <a:ext cx="858520" cy="1552575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1620" y="933450"/>
            <a:ext cx="4064000" cy="72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Contribution: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1620" y="273621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Review--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Exposure measurement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3067" y="339993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4806199" y="37984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135620" y="5622925"/>
            <a:ext cx="224282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800"/>
              <a:t>Identification design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861935" y="4234815"/>
            <a:ext cx="25165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800" b="1"/>
              <a:t>Exposure measurement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8071485" y="3512185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Resilience metrics</a:t>
            </a:r>
            <a:endParaRPr lang="en-US" altLang="zh-CN" sz="1800"/>
          </a:p>
        </p:txBody>
      </p:sp>
      <p:sp>
        <p:nvSpPr>
          <p:cNvPr id="12" name="文本框 11"/>
          <p:cNvSpPr txBox="1"/>
          <p:nvPr/>
        </p:nvSpPr>
        <p:spPr>
          <a:xfrm>
            <a:off x="7973060" y="2712085"/>
            <a:ext cx="240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Geopolitical setting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643495" y="1912620"/>
            <a:ext cx="273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Actionability &amp; portability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261620" y="3632835"/>
            <a:ext cx="5833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Pure distance-based exposure</a:t>
            </a:r>
            <a:endParaRPr lang="en-US" altLang="zh-CN" b="1"/>
          </a:p>
          <a:p>
            <a:r>
              <a:rPr lang="en-US" altLang="zh-CN"/>
              <a:t>(Feyrer, 2021)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1620" y="4525010"/>
            <a:ext cx="50260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Single connectivity indices (LSCI / PLSCI)</a:t>
            </a:r>
            <a:endParaRPr lang="en-US" altLang="zh-CN" b="1"/>
          </a:p>
          <a:p>
            <a:r>
              <a:rPr lang="en-US" altLang="zh-CN"/>
              <a:t>(Xu et al., 2020); (Verschuur et al., 2022); (UNCTAD, 2023, 2024); (Wang, Dou, &amp; Haralambides, 2022)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1620" y="5824220"/>
            <a:ext cx="5799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Route-share proxies (“share through Suez”)</a:t>
            </a:r>
            <a:endParaRPr lang="en-US" altLang="zh-CN" b="1"/>
          </a:p>
          <a:p>
            <a:r>
              <a:rPr lang="en-US" altLang="zh-CN"/>
              <a:t>(World Bank, 2024); 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261620" y="1477010"/>
            <a:ext cx="6171565" cy="163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1. Composite exposure index E(network + geography) </a:t>
            </a:r>
            <a:endParaRPr lang="en-US" altLang="zh-CN" b="1">
              <a:ea typeface="Arial" panose="020B0604020202020204" pitchFamily="34" charset="0"/>
              <a:cs typeface="+mn-lt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2. </a:t>
            </a:r>
            <a:r>
              <a:rPr lang="en-US" altLang="zh-CN" b="1">
                <a:ea typeface="Arial" panose="020B0604020202020204" pitchFamily="34" charset="0"/>
                <a:cs typeface="+mn-lt"/>
              </a:rPr>
              <a:t>Non-linear exposure–response (thresholds)</a:t>
            </a:r>
            <a:endParaRPr lang="en-US" altLang="zh-CN" b="1">
              <a:ea typeface="Arial" panose="020B0604020202020204" pitchFamily="34" charset="0"/>
              <a:cs typeface="+mn-lt"/>
            </a:endParaRPr>
          </a:p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</a:rPr>
              <a:t>3. Misclassification under single-indicator specs</a:t>
            </a:r>
            <a:endParaRPr lang="en-US" altLang="zh-CN" b="1">
              <a:ea typeface="Arial" panose="020B0604020202020204" pitchFamily="34" charset="0"/>
              <a:cs typeface="+mn-lt"/>
            </a:endParaRPr>
          </a:p>
          <a:p>
            <a:pPr algn="l">
              <a:lnSpc>
                <a:spcPct val="140000"/>
              </a:lnSpc>
            </a:pPr>
            <a:endParaRPr lang="en-US" altLang="zh-CN"/>
          </a:p>
        </p:txBody>
      </p:sp>
      <p:sp>
        <p:nvSpPr>
          <p:cNvPr id="29" name="上箭头 28"/>
          <p:cNvSpPr/>
          <p:nvPr>
            <p:custDataLst>
              <p:tags r:id="rId3"/>
            </p:custDataLst>
          </p:nvPr>
        </p:nvSpPr>
        <p:spPr>
          <a:xfrm>
            <a:off x="10945495" y="681355"/>
            <a:ext cx="819785" cy="4584700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1030585" y="5187950"/>
            <a:ext cx="650240" cy="1670050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上箭头 30"/>
          <p:cNvSpPr/>
          <p:nvPr>
            <p:custDataLst>
              <p:tags r:id="rId4"/>
            </p:custDataLst>
          </p:nvPr>
        </p:nvSpPr>
        <p:spPr>
          <a:xfrm>
            <a:off x="11176635" y="2928620"/>
            <a:ext cx="819785" cy="2441575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>
          <a:xfrm flipH="1">
            <a:off x="11374755" y="5370195"/>
            <a:ext cx="858520" cy="1552575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1620" y="933450"/>
            <a:ext cx="4064000" cy="72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Contribution: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1620" y="29286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Review--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Resilience metrics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3067" y="339993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4806199" y="37984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135620" y="5622925"/>
            <a:ext cx="224282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800"/>
              <a:t>Identification design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861935" y="4620895"/>
            <a:ext cx="251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Exposure measurement</a:t>
            </a:r>
            <a:endParaRPr lang="en-US" altLang="zh-CN" sz="1800"/>
          </a:p>
        </p:txBody>
      </p:sp>
      <p:sp>
        <p:nvSpPr>
          <p:cNvPr id="7" name="文本框 6"/>
          <p:cNvSpPr txBox="1"/>
          <p:nvPr/>
        </p:nvSpPr>
        <p:spPr>
          <a:xfrm>
            <a:off x="8071485" y="3451225"/>
            <a:ext cx="23069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800" b="1"/>
              <a:t>Resilience metrics</a:t>
            </a:r>
            <a:endParaRPr lang="en-US" altLang="zh-CN" sz="1800"/>
          </a:p>
        </p:txBody>
      </p:sp>
      <p:sp>
        <p:nvSpPr>
          <p:cNvPr id="12" name="文本框 11"/>
          <p:cNvSpPr txBox="1"/>
          <p:nvPr/>
        </p:nvSpPr>
        <p:spPr>
          <a:xfrm>
            <a:off x="7973060" y="2712085"/>
            <a:ext cx="240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Geopolitical setting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643495" y="1912620"/>
            <a:ext cx="273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Actionability &amp; portability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261620" y="3632835"/>
            <a:ext cx="5833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Static resilience scores / capability indices</a:t>
            </a:r>
            <a:endParaRPr lang="en-US" altLang="zh-CN" b="1"/>
          </a:p>
          <a:p>
            <a:r>
              <a:rPr lang="en-US" altLang="zh-CN"/>
              <a:t>(Bai et al., 2023); (Asariotis et al., 2021); </a:t>
            </a:r>
            <a:br>
              <a:rPr lang="en-US" altLang="zh-CN"/>
            </a:br>
            <a:r>
              <a:rPr lang="en-US" altLang="zh-CN"/>
              <a:t>(Zhang et al., 2023); 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261620" y="4615815"/>
            <a:ext cx="50260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Flow-based drops (throughput, calls, trade)</a:t>
            </a:r>
            <a:endParaRPr lang="en-US" altLang="zh-CN" b="1"/>
          </a:p>
          <a:p>
            <a:r>
              <a:rPr lang="en-US" altLang="zh-CN"/>
              <a:t>(Wang et al., 2024); (Bai et al., 2022); (UNCTAD, 2023, 2024); 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1620" y="5700395"/>
            <a:ext cx="5799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Price- / cost-based indicators</a:t>
            </a:r>
            <a:endParaRPr lang="en-US" altLang="zh-CN" b="1"/>
          </a:p>
          <a:p>
            <a:r>
              <a:rPr lang="en-US" altLang="zh-CN"/>
              <a:t>(Mechai &amp; Wicaksono, 2024); </a:t>
            </a:r>
            <a:r>
              <a:rPr lang="en-US" altLang="zh-CN">
                <a:sym typeface="+mn-ea"/>
              </a:rPr>
              <a:t>(Bai et al., 2024);</a:t>
            </a: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261620" y="1545590"/>
            <a:ext cx="6400165" cy="1350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1. Dynamic path-based resilience metrics (Peak, Time-to-Recovery)</a:t>
            </a:r>
            <a:endParaRPr lang="en-US" altLang="zh-CN" b="1">
              <a:ea typeface="Arial" panose="020B0604020202020204" pitchFamily="34" charset="0"/>
              <a:cs typeface="+mn-lt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2. </a:t>
            </a:r>
            <a:r>
              <a:rPr lang="en-US" altLang="zh-CN" b="1">
                <a:ea typeface="Arial" panose="020B0604020202020204" pitchFamily="34" charset="0"/>
                <a:cs typeface="+mn-lt"/>
              </a:rPr>
              <a:t>Standardised, comparable output metrics (z-imp, etc.)</a:t>
            </a:r>
            <a:endParaRPr lang="zh-CN" altLang="en-US" b="1">
              <a:ea typeface="Arial" panose="020B0604020202020204" pitchFamily="34" charset="0"/>
              <a:cs typeface="+mn-lt"/>
            </a:endParaRPr>
          </a:p>
          <a:p>
            <a:pPr algn="l">
              <a:lnSpc>
                <a:spcPct val="140000"/>
              </a:lnSpc>
            </a:pPr>
            <a:endParaRPr lang="en-US" altLang="zh-CN"/>
          </a:p>
        </p:txBody>
      </p:sp>
      <p:sp>
        <p:nvSpPr>
          <p:cNvPr id="29" name="上箭头 28"/>
          <p:cNvSpPr/>
          <p:nvPr>
            <p:custDataLst>
              <p:tags r:id="rId3"/>
            </p:custDataLst>
          </p:nvPr>
        </p:nvSpPr>
        <p:spPr>
          <a:xfrm>
            <a:off x="10945495" y="681355"/>
            <a:ext cx="819785" cy="4584700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1030585" y="5187950"/>
            <a:ext cx="650240" cy="1670050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上箭头 30"/>
          <p:cNvSpPr/>
          <p:nvPr>
            <p:custDataLst>
              <p:tags r:id="rId4"/>
            </p:custDataLst>
          </p:nvPr>
        </p:nvSpPr>
        <p:spPr>
          <a:xfrm>
            <a:off x="11176635" y="2928620"/>
            <a:ext cx="819785" cy="2441575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>
          <a:xfrm flipH="1">
            <a:off x="11374755" y="5370195"/>
            <a:ext cx="858520" cy="1552575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1620" y="815975"/>
            <a:ext cx="4064000" cy="72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Contribution: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1620" y="299974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Review--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Geopolitical setting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3067" y="3399934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4806199" y="3798476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246745" y="5622925"/>
            <a:ext cx="224282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800"/>
              <a:t>Identification design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973060" y="4620895"/>
            <a:ext cx="251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Exposure measurement</a:t>
            </a:r>
            <a:endParaRPr lang="en-US" altLang="zh-CN" sz="1800"/>
          </a:p>
        </p:txBody>
      </p:sp>
      <p:sp>
        <p:nvSpPr>
          <p:cNvPr id="7" name="文本框 6"/>
          <p:cNvSpPr txBox="1"/>
          <p:nvPr/>
        </p:nvSpPr>
        <p:spPr>
          <a:xfrm>
            <a:off x="8182610" y="4016375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Resilience metrics</a:t>
            </a:r>
            <a:endParaRPr lang="en-US" altLang="zh-CN" sz="1800"/>
          </a:p>
        </p:txBody>
      </p:sp>
      <p:sp>
        <p:nvSpPr>
          <p:cNvPr id="12" name="文本框 11"/>
          <p:cNvSpPr txBox="1"/>
          <p:nvPr/>
        </p:nvSpPr>
        <p:spPr>
          <a:xfrm>
            <a:off x="8084185" y="2685415"/>
            <a:ext cx="24053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800" b="1"/>
              <a:t>Geopolitical setting</a:t>
            </a:r>
            <a:endParaRPr lang="en-US" altLang="zh-CN" sz="2800" b="1"/>
          </a:p>
        </p:txBody>
      </p:sp>
      <p:sp>
        <p:nvSpPr>
          <p:cNvPr id="13" name="文本框 12"/>
          <p:cNvSpPr txBox="1"/>
          <p:nvPr/>
        </p:nvSpPr>
        <p:spPr>
          <a:xfrm>
            <a:off x="7754620" y="1895475"/>
            <a:ext cx="2734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/>
              <a:t>Actionability &amp; portability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261620" y="3632835"/>
            <a:ext cx="5833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Natural hazards &amp; climate-related port disruptions</a:t>
            </a:r>
            <a:endParaRPr lang="en-US" altLang="zh-CN" b="1"/>
          </a:p>
          <a:p>
            <a:r>
              <a:rPr lang="en-US" altLang="zh-CN"/>
              <a:t>(Verschuur et al., 2020); (Verschuur, 2023); (Gonz</a:t>
            </a:r>
            <a:r>
              <a:rPr lang="en-US" altLang="en-US"/>
              <a:t>á</a:t>
            </a:r>
            <a:r>
              <a:rPr lang="en-US" altLang="zh-CN"/>
              <a:t>lez, 2025)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261620" y="4643755"/>
            <a:ext cx="60667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Pandemic / macro shocks to ports and shipping</a:t>
            </a:r>
            <a:endParaRPr lang="en-US" altLang="zh-CN" b="1"/>
          </a:p>
          <a:p>
            <a:r>
              <a:rPr lang="en-US" altLang="zh-CN"/>
              <a:t>Wu et al., 2024); (Faure, 2025); (UNCTAD, 2023, 2024); (Wang, Dou, &amp; Haralambides, 2022)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1620" y="5824220"/>
            <a:ext cx="5799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Red Sea as “supply chain shock”</a:t>
            </a:r>
            <a:endParaRPr lang="en-US" altLang="zh-CN" b="1"/>
          </a:p>
          <a:p>
            <a:r>
              <a:rPr lang="en-US" altLang="zh-CN"/>
              <a:t>(Kamali et al., 2024); (Wang et al., 2024)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261620" y="1315085"/>
            <a:ext cx="7366635" cy="163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1. Hazard-agnostic port resilience framework</a:t>
            </a:r>
            <a:endParaRPr lang="en-US" altLang="zh-CN" b="1">
              <a:ea typeface="Arial" panose="020B0604020202020204" pitchFamily="34" charset="0"/>
              <a:cs typeface="+mn-lt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2. </a:t>
            </a:r>
            <a:r>
              <a:rPr lang="en-US" altLang="zh-CN" b="1">
                <a:ea typeface="Arial" panose="020B0604020202020204" pitchFamily="34" charset="0"/>
                <a:cs typeface="+mn-lt"/>
              </a:rPr>
              <a:t>Embedding ports into great-power competition &amp; chokepoint politics</a:t>
            </a:r>
            <a:endParaRPr lang="en-US" altLang="zh-CN" b="1">
              <a:ea typeface="Arial" panose="020B0604020202020204" pitchFamily="34" charset="0"/>
              <a:cs typeface="+mn-lt"/>
            </a:endParaRPr>
          </a:p>
          <a:p>
            <a:pPr algn="l">
              <a:lnSpc>
                <a:spcPct val="14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</a:rPr>
              <a:t>3. Cross-region / bloc differences in resilience</a:t>
            </a:r>
            <a:endParaRPr lang="en-US" altLang="zh-CN" b="1">
              <a:ea typeface="Arial" panose="020B0604020202020204" pitchFamily="34" charset="0"/>
              <a:cs typeface="+mn-lt"/>
            </a:endParaRPr>
          </a:p>
        </p:txBody>
      </p:sp>
      <p:sp>
        <p:nvSpPr>
          <p:cNvPr id="29" name="上箭头 28"/>
          <p:cNvSpPr/>
          <p:nvPr>
            <p:custDataLst>
              <p:tags r:id="rId3"/>
            </p:custDataLst>
          </p:nvPr>
        </p:nvSpPr>
        <p:spPr>
          <a:xfrm>
            <a:off x="10945495" y="681355"/>
            <a:ext cx="819785" cy="4584700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1030585" y="5187950"/>
            <a:ext cx="650240" cy="1670050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上箭头 30"/>
          <p:cNvSpPr/>
          <p:nvPr>
            <p:custDataLst>
              <p:tags r:id="rId4"/>
            </p:custDataLst>
          </p:nvPr>
        </p:nvSpPr>
        <p:spPr>
          <a:xfrm>
            <a:off x="11176635" y="2928620"/>
            <a:ext cx="819785" cy="2441575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>
          <a:xfrm flipH="1">
            <a:off x="11374755" y="5370195"/>
            <a:ext cx="858520" cy="1552575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1620" y="797560"/>
            <a:ext cx="4064000" cy="72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Contribution: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1620" y="292862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3065" y="238760"/>
            <a:ext cx="73672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Review--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Actionability &amp; portability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06498" y="18351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93067" y="2916699"/>
            <a:ext cx="319882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1. Event profile</a:t>
            </a:r>
            <a:endParaRPr lang="en-US" altLang="zh-CN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"/>
            </p:custDataLst>
          </p:nvPr>
        </p:nvCxnSpPr>
        <p:spPr>
          <a:xfrm>
            <a:off x="4806199" y="3315241"/>
            <a:ext cx="42566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246745" y="5622925"/>
            <a:ext cx="2242820" cy="43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800"/>
              <a:t>Identification design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973060" y="4620895"/>
            <a:ext cx="2516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Exposure measurement</a:t>
            </a:r>
            <a:endParaRPr lang="en-US" altLang="zh-CN" sz="1800"/>
          </a:p>
        </p:txBody>
      </p:sp>
      <p:sp>
        <p:nvSpPr>
          <p:cNvPr id="7" name="文本框 6"/>
          <p:cNvSpPr txBox="1"/>
          <p:nvPr/>
        </p:nvSpPr>
        <p:spPr>
          <a:xfrm>
            <a:off x="8182610" y="4016375"/>
            <a:ext cx="230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Resilience metrics</a:t>
            </a:r>
            <a:endParaRPr lang="en-US" altLang="zh-CN" sz="1800"/>
          </a:p>
        </p:txBody>
      </p:sp>
      <p:sp>
        <p:nvSpPr>
          <p:cNvPr id="12" name="文本框 11"/>
          <p:cNvSpPr txBox="1"/>
          <p:nvPr/>
        </p:nvSpPr>
        <p:spPr>
          <a:xfrm>
            <a:off x="8084185" y="2967355"/>
            <a:ext cx="240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800"/>
              <a:t>Geopolitical setting</a:t>
            </a:r>
            <a:endParaRPr lang="en-US" altLang="zh-CN" sz="1800"/>
          </a:p>
        </p:txBody>
      </p:sp>
      <p:sp>
        <p:nvSpPr>
          <p:cNvPr id="13" name="文本框 12"/>
          <p:cNvSpPr txBox="1"/>
          <p:nvPr/>
        </p:nvSpPr>
        <p:spPr>
          <a:xfrm>
            <a:off x="7754620" y="1824990"/>
            <a:ext cx="27349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2800" b="1"/>
              <a:t>Actionability &amp; portability</a:t>
            </a:r>
            <a:endParaRPr lang="en-US" altLang="zh-CN" sz="2800" b="1"/>
          </a:p>
        </p:txBody>
      </p:sp>
      <p:sp>
        <p:nvSpPr>
          <p:cNvPr id="24" name="文本框 23"/>
          <p:cNvSpPr txBox="1"/>
          <p:nvPr/>
        </p:nvSpPr>
        <p:spPr>
          <a:xfrm>
            <a:off x="261620" y="4070350"/>
            <a:ext cx="5833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Qualitative policy checklists</a:t>
            </a:r>
            <a:endParaRPr lang="en-US" altLang="zh-CN" b="1"/>
          </a:p>
          <a:p>
            <a:r>
              <a:rPr lang="en-US" altLang="zh-CN"/>
              <a:t>(UNCTAD, 2024); (World Bank, 2025);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206375" y="5187950"/>
            <a:ext cx="6066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Model-based scenarios locked in papers</a:t>
            </a:r>
            <a:endParaRPr lang="en-US" altLang="zh-CN" b="1"/>
          </a:p>
          <a:p>
            <a:r>
              <a:rPr lang="en-US" altLang="zh-CN"/>
              <a:t>(PortWatch RAP</a:t>
            </a:r>
            <a:r>
              <a:rPr lang="zh-CN" altLang="en-US"/>
              <a:t>、</a:t>
            </a:r>
            <a:r>
              <a:rPr lang="en-US" altLang="zh-CN"/>
              <a:t>WB Data Lab notebooks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61620" y="1315085"/>
            <a:ext cx="7366635" cy="163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8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1. Reproducible data-to-figure workflow (“toolkit”)</a:t>
            </a:r>
            <a:endParaRPr lang="en-US" altLang="zh-CN" b="1">
              <a:ea typeface="Arial" panose="020B0604020202020204" pitchFamily="34" charset="0"/>
              <a:cs typeface="+mn-lt"/>
              <a:sym typeface="+mn-ea"/>
            </a:endParaRPr>
          </a:p>
          <a:p>
            <a:pPr algn="l">
              <a:lnSpc>
                <a:spcPct val="18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  <a:sym typeface="+mn-ea"/>
              </a:rPr>
              <a:t>2. </a:t>
            </a:r>
            <a:r>
              <a:rPr lang="en-US" altLang="zh-CN" b="1">
                <a:ea typeface="Arial" panose="020B0604020202020204" pitchFamily="34" charset="0"/>
                <a:cs typeface="+mn-lt"/>
              </a:rPr>
              <a:t>Portable scenario &amp; early-warning framework</a:t>
            </a:r>
            <a:endParaRPr lang="en-US" altLang="zh-CN" b="1">
              <a:ea typeface="Arial" panose="020B0604020202020204" pitchFamily="34" charset="0"/>
              <a:cs typeface="+mn-lt"/>
            </a:endParaRPr>
          </a:p>
          <a:p>
            <a:pPr algn="l">
              <a:lnSpc>
                <a:spcPct val="180000"/>
              </a:lnSpc>
            </a:pPr>
            <a:r>
              <a:rPr lang="en-US" altLang="zh-CN" b="1">
                <a:ea typeface="Arial" panose="020B0604020202020204" pitchFamily="34" charset="0"/>
                <a:cs typeface="+mn-lt"/>
              </a:rPr>
              <a:t>3. Dashboard-style metrics for port managers</a:t>
            </a:r>
            <a:endParaRPr lang="en-US" altLang="zh-CN" b="1">
              <a:ea typeface="Arial" panose="020B0604020202020204" pitchFamily="34" charset="0"/>
              <a:cs typeface="+mn-lt"/>
            </a:endParaRPr>
          </a:p>
        </p:txBody>
      </p:sp>
      <p:sp>
        <p:nvSpPr>
          <p:cNvPr id="29" name="上箭头 28"/>
          <p:cNvSpPr/>
          <p:nvPr>
            <p:custDataLst>
              <p:tags r:id="rId3"/>
            </p:custDataLst>
          </p:nvPr>
        </p:nvSpPr>
        <p:spPr>
          <a:xfrm>
            <a:off x="10945495" y="681355"/>
            <a:ext cx="819785" cy="4584700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11030585" y="5187950"/>
            <a:ext cx="650240" cy="1670050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上箭头 30"/>
          <p:cNvSpPr/>
          <p:nvPr>
            <p:custDataLst>
              <p:tags r:id="rId4"/>
            </p:custDataLst>
          </p:nvPr>
        </p:nvSpPr>
        <p:spPr>
          <a:xfrm>
            <a:off x="11176635" y="2928620"/>
            <a:ext cx="819785" cy="2441575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2" name="任意多边形 31"/>
          <p:cNvSpPr/>
          <p:nvPr/>
        </p:nvSpPr>
        <p:spPr>
          <a:xfrm flipH="1">
            <a:off x="11374755" y="5370195"/>
            <a:ext cx="858520" cy="1552575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61620" y="797560"/>
            <a:ext cx="4064000" cy="729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Contribution: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1620" y="319024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</a:t>
            </a:r>
            <a:endParaRPr lang="en-US" altLang="zh-CN" sz="32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6235" y="254635"/>
            <a:ext cx="10962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Literature Review——Conculsion: Research 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Gap and Contribution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19833" y="19748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上箭头 7"/>
          <p:cNvSpPr/>
          <p:nvPr>
            <p:custDataLst>
              <p:tags r:id="rId1"/>
            </p:custDataLst>
          </p:nvPr>
        </p:nvSpPr>
        <p:spPr>
          <a:xfrm>
            <a:off x="4796515" y="2699655"/>
            <a:ext cx="820057" cy="3367314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上箭头 8"/>
          <p:cNvSpPr/>
          <p:nvPr>
            <p:custDataLst>
              <p:tags r:id="rId2"/>
            </p:custDataLst>
          </p:nvPr>
        </p:nvSpPr>
        <p:spPr>
          <a:xfrm>
            <a:off x="6410954" y="3306081"/>
            <a:ext cx="820057" cy="2873828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上箭头 9"/>
          <p:cNvSpPr/>
          <p:nvPr>
            <p:custDataLst>
              <p:tags r:id="rId3"/>
            </p:custDataLst>
          </p:nvPr>
        </p:nvSpPr>
        <p:spPr>
          <a:xfrm>
            <a:off x="6068781" y="3715655"/>
            <a:ext cx="820057" cy="2365829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上箭头 10"/>
          <p:cNvSpPr/>
          <p:nvPr>
            <p:custDataLst>
              <p:tags r:id="rId4"/>
            </p:custDataLst>
          </p:nvPr>
        </p:nvSpPr>
        <p:spPr>
          <a:xfrm>
            <a:off x="5359629" y="2169887"/>
            <a:ext cx="820057" cy="3911598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964754" y="6066969"/>
            <a:ext cx="1446804" cy="791031"/>
          </a:xfrm>
          <a:custGeom>
            <a:avLst/>
            <a:gdLst>
              <a:gd name="connsiteX0" fmla="*/ 1031189 w 1446804"/>
              <a:gd name="connsiteY0" fmla="*/ 0 h 791031"/>
              <a:gd name="connsiteX1" fmla="*/ 1446804 w 1446804"/>
              <a:gd name="connsiteY1" fmla="*/ 0 h 791031"/>
              <a:gd name="connsiteX2" fmla="*/ 415615 w 1446804"/>
              <a:gd name="connsiteY2" fmla="*/ 791031 h 791031"/>
              <a:gd name="connsiteX3" fmla="*/ 0 w 1446804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804" h="791031">
                <a:moveTo>
                  <a:pt x="1031189" y="0"/>
                </a:moveTo>
                <a:lnTo>
                  <a:pt x="1446804" y="0"/>
                </a:lnTo>
                <a:lnTo>
                  <a:pt x="415615" y="791031"/>
                </a:lnTo>
                <a:lnTo>
                  <a:pt x="0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 flipH="1">
            <a:off x="6641741" y="6179909"/>
            <a:ext cx="1381828" cy="776516"/>
          </a:xfrm>
          <a:custGeom>
            <a:avLst/>
            <a:gdLst>
              <a:gd name="connsiteX0" fmla="*/ 1381828 w 1381828"/>
              <a:gd name="connsiteY0" fmla="*/ 0 h 776516"/>
              <a:gd name="connsiteX1" fmla="*/ 979618 w 1381828"/>
              <a:gd name="connsiteY1" fmla="*/ 0 h 776516"/>
              <a:gd name="connsiteX2" fmla="*/ 0 w 1381828"/>
              <a:gd name="connsiteY2" fmla="*/ 776516 h 776516"/>
              <a:gd name="connsiteX3" fmla="*/ 402210 w 1381828"/>
              <a:gd name="connsiteY3" fmla="*/ 776516 h 77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1828" h="776516">
                <a:moveTo>
                  <a:pt x="1381828" y="0"/>
                </a:moveTo>
                <a:lnTo>
                  <a:pt x="979618" y="0"/>
                </a:lnTo>
                <a:lnTo>
                  <a:pt x="0" y="776516"/>
                </a:lnTo>
                <a:lnTo>
                  <a:pt x="402210" y="776516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5444302" y="6022726"/>
            <a:ext cx="650084" cy="835275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任意多边形 14"/>
          <p:cNvSpPr/>
          <p:nvPr/>
        </p:nvSpPr>
        <p:spPr>
          <a:xfrm flipH="1">
            <a:off x="6262620" y="6066969"/>
            <a:ext cx="858228" cy="791031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7547610" y="1310640"/>
                <a:ext cx="4730750" cy="552132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30000"/>
                  </a:lnSpc>
                </a:pPr>
                <a:r>
                  <a:rPr lang="en-US" altLang="zh-CN" sz="1600" b="1">
                    <a:cs typeface="+mn-lt"/>
                  </a:rPr>
                  <a:t>1. Continuous-intensity DID at the port level: </a:t>
                </a:r>
                <a:r>
                  <a:rPr lang="en-US" altLang="zh-CN" sz="1600">
                    <a:cs typeface="+mn-lt"/>
                  </a:rPr>
                  <a:t> </a:t>
                </a:r>
                <a:r>
                  <a:rPr lang="en-US" altLang="zh-CN" sz="1600">
                    <a:ea typeface="Arial" panose="020B0604020202020204" pitchFamily="34" charset="0"/>
                    <a:cs typeface="+mn-lt"/>
                  </a:rPr>
                  <a:t>Port-month DID event study with continuous exposure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Arial" panose="020B0604020202020204" pitchFamily="34" charset="0"/>
                        <a:cs typeface="Cambria Math" panose="02040503050406030204" charset="0"/>
                      </a:rPr>
                      <m:t>𝐸</m:t>
                    </m:r>
                  </m:oMath>
                </a14:m>
                <a:r>
                  <a:rPr lang="en-US" altLang="zh-CN" sz="1600">
                    <a:ea typeface="Arial" panose="020B0604020202020204" pitchFamily="34" charset="0"/>
                    <a:cs typeface="+mn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600" i="1">
                  <a:ea typeface="Arial" panose="020B0604020202020204" pitchFamily="34" charset="0"/>
                  <a:cs typeface="+mn-lt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1600" b="1">
                    <a:ea typeface="Arial" panose="020B0604020202020204" pitchFamily="34" charset="0"/>
                    <a:cs typeface="+mn-lt"/>
                  </a:rPr>
                  <a:t>2. Composite exposure:</a:t>
                </a:r>
                <a:r>
                  <a:rPr lang="en-US" altLang="zh-CN" sz="1600">
                    <a:ea typeface="Arial" panose="020B0604020202020204" pitchFamily="34" charset="0"/>
                    <a:cs typeface="+mn-lt"/>
                  </a:rPr>
                  <a:t> connectivity and detour geography: Combining pre-shock connectivity and Cape detour distance; tests redundancy vs. geographic cost, nonlinearity, and single-factor baselines.</a:t>
                </a:r>
                <a:endParaRPr lang="en-US" altLang="zh-CN" sz="1600">
                  <a:ea typeface="Arial" panose="020B0604020202020204" pitchFamily="34" charset="0"/>
                  <a:cs typeface="+mn-lt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1600" b="1">
                    <a:ea typeface="Arial" panose="020B0604020202020204" pitchFamily="34" charset="0"/>
                    <a:cs typeface="+mn-lt"/>
                  </a:rPr>
                  <a:t>3.Operational resilience metrics—Peak &amp; half-life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charset="0"/>
                        <a:ea typeface="Arial" panose="020B0604020202020204" pitchFamily="34" charset="0"/>
                        <a:cs typeface="Cambria Math" panose="02040503050406030204" charset="0"/>
                      </a:rPr>
                      <m:t>𝝉</m:t>
                    </m:r>
                    <m:r>
                      <a:rPr lang="en-US" altLang="zh-CN" sz="1600" b="1" i="1">
                        <a:latin typeface="Cambria Math" panose="02040503050406030204" charset="0"/>
                        <a:ea typeface="Arial" panose="020B0604020202020204" pitchFamily="34" charset="0"/>
                        <a:cs typeface="Cambria Math" panose="02040503050406030204" charset="0"/>
                      </a:rPr>
                      <m:t>: </m:t>
                    </m:r>
                  </m:oMath>
                </a14:m>
                <a:r>
                  <a:rPr lang="en-US" altLang="zh-CN" sz="1600">
                    <a:ea typeface="Arial" panose="020B0604020202020204" pitchFamily="34" charset="0"/>
                    <a:cs typeface="+mn-lt"/>
                  </a:rPr>
                  <a:t>From event paths, extract peak drop and port-specific half-life comparable resilience metrics for cross-port</a:t>
                </a:r>
                <a:endParaRPr lang="en-US" altLang="zh-CN" sz="1600">
                  <a:ea typeface="Arial" panose="020B0604020202020204" pitchFamily="34" charset="0"/>
                  <a:cs typeface="+mn-lt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1600" b="1">
                    <a:ea typeface="Arial" panose="020B0604020202020204" pitchFamily="34" charset="0"/>
                    <a:cs typeface="+mn-lt"/>
                  </a:rPr>
                  <a:t>4. Geopolitical-conflict setting for port resilience: </a:t>
                </a:r>
                <a:r>
                  <a:rPr lang="en-US" altLang="zh-CN" sz="1600">
                    <a:ea typeface="Arial" panose="020B0604020202020204" pitchFamily="34" charset="0"/>
                    <a:cs typeface="+mn-lt"/>
                  </a:rPr>
                  <a:t>Use the Red Sea crisis as a quasi-experiment to deliver port-level causal evidence on heterogeneous impacts and recoveries in war/security contexts.</a:t>
                </a:r>
                <a:endParaRPr lang="en-US" altLang="zh-CN" sz="1600">
                  <a:ea typeface="Arial" panose="020B0604020202020204" pitchFamily="34" charset="0"/>
                  <a:cs typeface="+mn-lt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610" y="1310640"/>
                <a:ext cx="4730750" cy="552132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>
          <a:xfrm>
            <a:off x="198755" y="1313180"/>
            <a:ext cx="4730750" cy="5600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1600" b="1"/>
              <a:t>1. Identification design: </a:t>
            </a:r>
            <a:r>
              <a:rPr lang="en-US" altLang="zh-CN" sz="1600">
                <a:ea typeface="Arial" panose="020B0604020202020204" pitchFamily="34" charset="0"/>
              </a:rPr>
              <a:t>mostly use binary DID, case studies, or descriptive event studies;</a:t>
            </a:r>
            <a:endParaRPr lang="en-US" altLang="zh-CN" sz="1600"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1">
                <a:ea typeface="Arial" panose="020B0604020202020204" pitchFamily="34" charset="0"/>
              </a:rPr>
              <a:t>2. Exposure measurement: </a:t>
            </a:r>
            <a:r>
              <a:rPr lang="en-US" altLang="zh-CN" sz="1600">
                <a:ea typeface="Arial" panose="020B0604020202020204" pitchFamily="34" charset="0"/>
              </a:rPr>
              <a:t>Typically isolates either distance or connectivity; few test nonlinearity, or quantify misclassification under single-indicator specs.</a:t>
            </a:r>
            <a:endParaRPr lang="en-US" altLang="zh-CN" sz="1600"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1">
                <a:ea typeface="Arial" panose="020B0604020202020204" pitchFamily="34" charset="0"/>
              </a:rPr>
              <a:t>3. Resilience metrics:</a:t>
            </a:r>
            <a:r>
              <a:rPr lang="en-US" altLang="zh-CN" sz="1600">
                <a:ea typeface="Arial" panose="020B0604020202020204" pitchFamily="34" charset="0"/>
              </a:rPr>
              <a:t> Existing scorecards/capability indices are static ; we lack output-based, comparable measures of realized resilience paths (e.g., peak loss, time-to-recovery).</a:t>
            </a:r>
            <a:endParaRPr lang="en-US" altLang="zh-CN" sz="1600"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1">
                <a:ea typeface="Arial" panose="020B0604020202020204" pitchFamily="34" charset="0"/>
              </a:rPr>
              <a:t>4. Geopolitical setting:</a:t>
            </a:r>
            <a:r>
              <a:rPr lang="en-US" altLang="zh-CN" sz="1600">
                <a:ea typeface="Arial" panose="020B0604020202020204" pitchFamily="34" charset="0"/>
              </a:rPr>
              <a:t> Port-resilience studies skew toward natural hazards/macroeconomic shocks;</a:t>
            </a:r>
            <a:endParaRPr lang="en-US" altLang="zh-CN" sz="1600">
              <a:ea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b="1">
                <a:ea typeface="Arial" panose="020B0604020202020204" pitchFamily="34" charset="0"/>
              </a:rPr>
              <a:t>5. Actionability &amp; portability:</a:t>
            </a:r>
            <a:r>
              <a:rPr lang="en-US" altLang="zh-CN" sz="1600">
                <a:ea typeface="Arial" panose="020B0604020202020204" pitchFamily="34" charset="0"/>
              </a:rPr>
              <a:t> lack of reusable resilience measurement and scenario simulation/early warning tools.</a:t>
            </a:r>
            <a:endParaRPr lang="en-US" altLang="zh-CN" sz="1600">
              <a:ea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15670" y="850265"/>
            <a:ext cx="2285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Research Gap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70645" y="829945"/>
            <a:ext cx="1884045" cy="480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Contribution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35085" y="3763645"/>
            <a:ext cx="2232660" cy="1696085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193165" y="1266190"/>
            <a:ext cx="1635760" cy="1591945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Arial" panose="020B0604020202020204" pitchFamily="34" charset="0"/>
              </a:rPr>
              <a:t>3</a:t>
            </a:r>
            <a:endParaRPr lang="en-US" altLang="zh-CN" sz="13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27095" y="1316990"/>
            <a:ext cx="3075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Method</a:t>
            </a:r>
            <a:endParaRPr lang="en-US" altLang="zh-CN" sz="4800" b="1" dirty="0">
              <a:solidFill>
                <a:srgbClr val="1C488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613899" y="2325369"/>
            <a:ext cx="126555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350260" y="2425065"/>
            <a:ext cx="8210550" cy="3643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Data Sources &amp; Variable Construction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IMF PortWatch | Daily Port Activity &amp; Trade Estimates (Core dataset)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</a:rPr>
              <a:t>UNCTAD | PLSCI (port-level connectivity)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Ports metadata &amp; Natural Earth 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Marine Regions—IHO Sea Areas shapefile 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u="sng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Main regression</a:t>
            </a:r>
            <a:endParaRPr lang="en-US" altLang="zh-CN" b="1" u="sng" dirty="0"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Half Life </a:t>
            </a:r>
            <a:endParaRPr lang="en-US" altLang="zh-CN" b="1" u="sng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indent="-285750" algn="l">
              <a:lnSpc>
                <a:spcPct val="18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indent="0" algn="l">
              <a:lnSpc>
                <a:spcPct val="180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9081770" y="5819140"/>
            <a:ext cx="2743200" cy="365125"/>
          </a:xfrm>
        </p:spPr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4583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&amp; Purpose (Brief)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450215" y="1322070"/>
            <a:ext cx="10694670" cy="1400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450215" y="2947670"/>
            <a:ext cx="10694670" cy="138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330603" y="1218418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4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5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>
            <p:custDataLst>
              <p:tags r:id="rId6"/>
            </p:custDataLst>
          </p:nvPr>
        </p:nvGrpSpPr>
        <p:grpSpPr>
          <a:xfrm>
            <a:off x="330603" y="2849724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>
              <p:custDataLst>
                <p:tags r:id="rId7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8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50875" y="1541780"/>
            <a:ext cx="103822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 b="1"/>
          </a:p>
        </p:txBody>
      </p:sp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450215" y="4612005"/>
            <a:ext cx="10694670" cy="885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330603" y="451405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>
              <p:custDataLst>
                <p:tags r:id="rId13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35635" y="1393190"/>
                <a:ext cx="9956800" cy="120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IMF PortWatch | Daily Port Activity &amp; Trade Estimates (Core dataset)</a:t>
                </a:r>
                <a:endParaRPr lang="en-US" altLang="zh-CN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Build the dependent variables—Monthly Port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𝑐𝑎𝑙𝑙</m:t>
                        </m:r>
                      </m:sub>
                    </m:sSub>
                  </m:oMath>
                </a14:m>
                <a:r>
                  <a:rPr lang="en-US" altLang="zh-CN"/>
                  <a:t>), Estimated Import Tonnage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𝑖𝑚𝑝</m:t>
                        </m:r>
                      </m:sub>
                    </m:sSub>
                  </m:oMath>
                </a14:m>
                <a:r>
                  <a:rPr lang="en-US" altLang="zh-CN"/>
                  <a:t>), and Estimated Export Tonnage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en-US" altLang="zh-CN"/>
                  <a:t>).</a:t>
                </a:r>
                <a:endParaRPr lang="en-US" altLang="zh-CN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Aggregate daily </a:t>
                </a:r>
                <a:r>
                  <a:rPr lang="en-US" altLang="en-US"/>
                  <a:t>→</a:t>
                </a:r>
                <a:r>
                  <a:rPr lang="en-US" altLang="zh-CN"/>
                  <a:t> monthly and compute same-month z-scores using a 2019–2023 baseline.</a:t>
                </a:r>
                <a:endParaRPr lang="en-US" altLang="zh-CN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" y="1393190"/>
                <a:ext cx="9956800" cy="120015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35635" y="3020060"/>
                <a:ext cx="9956800" cy="1205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buFont typeface="Arial" panose="020B0604020202020204" pitchFamily="34" charset="0"/>
                  <a:buNone/>
                </a:pPr>
                <a:r>
                  <a:rPr lang="en-US" altLang="zh-CN" b="1"/>
                  <a:t>IMF PortWatch | Ports metadata (port roster &amp; coordinates)</a:t>
                </a:r>
                <a:endParaRPr lang="en-US" altLang="zh-CN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Obtain latitude/longitude and country/region to complete the port</a:t>
                </a:r>
                <a:r>
                  <a:rPr lang="en-US" altLang="en-US"/>
                  <a:t>→</a:t>
                </a:r>
                <a:r>
                  <a:rPr lang="en-US" altLang="zh-CN"/>
                  <a:t>country linkage</a:t>
                </a:r>
                <a:endParaRPr lang="en-US" altLang="zh-CN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generate ocean-basin/region tags and spatial controls;</a:t>
                </a:r>
                <a:endParaRPr lang="en-US" altLang="zh-CN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support geographic exposure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/>
                  <a:t> construction, stratification, and robustness checks.</a:t>
                </a:r>
                <a:endParaRPr lang="en-US" altLang="zh-CN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" y="3020060"/>
                <a:ext cx="9956800" cy="120523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35635" y="4733290"/>
            <a:ext cx="995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UNCTAD | PLSCI (port-level connectivity)</a:t>
            </a:r>
            <a:endParaRPr lang="en-US" altLang="zh-CN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/>
              <a:t>Compute and standardize to construct network connectivity exposure E_net</a:t>
            </a:r>
            <a:endParaRPr lang="en-US" altLang="zh-CN"/>
          </a:p>
        </p:txBody>
      </p:sp>
      <p:sp>
        <p:nvSpPr>
          <p:cNvPr id="11" name="矩形 10"/>
          <p:cNvSpPr/>
          <p:nvPr>
            <p:custDataLst>
              <p:tags r:id="rId16"/>
            </p:custDataLst>
          </p:nvPr>
        </p:nvSpPr>
        <p:spPr>
          <a:xfrm>
            <a:off x="457835" y="5772785"/>
            <a:ext cx="10694670" cy="885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>
            <p:custDataLst>
              <p:tags r:id="rId17"/>
            </p:custDataLst>
          </p:nvPr>
        </p:nvGrpSpPr>
        <p:grpSpPr>
          <a:xfrm>
            <a:off x="338223" y="567483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21" name="矩形 20"/>
            <p:cNvSpPr/>
            <p:nvPr>
              <p:custDataLst>
                <p:tags r:id="rId18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>
              <p:custDataLst>
                <p:tags r:id="rId19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43255" y="5894070"/>
            <a:ext cx="995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Natural Earth (coastlines/boundaries/representative points)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generate ocean-basin/region tags</a:t>
            </a:r>
            <a:endParaRPr lang="en-US" altLang="zh-CN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6710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IMF PortWatch | Daily Port Activity &amp; Trade Estimates (Core dataset)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450215" y="1322070"/>
            <a:ext cx="10694670" cy="14008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330603" y="1218418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50875" y="1541780"/>
            <a:ext cx="103822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8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35635" y="1393190"/>
                <a:ext cx="9956800" cy="1200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IMF PortWatch | Daily Port Activity &amp; Trade Estimates (Core dataset)</a:t>
                </a:r>
                <a:endParaRPr lang="en-US" altLang="zh-CN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Build the dependent variables—Monthly Port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𝑐𝑎𝑙𝑙</m:t>
                        </m:r>
                      </m:sub>
                    </m:sSub>
                  </m:oMath>
                </a14:m>
                <a:r>
                  <a:rPr lang="en-US" altLang="zh-CN"/>
                  <a:t>), Estimated Import Tonnage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𝑖𝑚𝑝</m:t>
                        </m:r>
                      </m:sub>
                    </m:sSub>
                  </m:oMath>
                </a14:m>
                <a:r>
                  <a:rPr lang="en-US" altLang="zh-CN"/>
                  <a:t>), and Estimated Export Tonnage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en-US" altLang="zh-CN"/>
                  <a:t>).</a:t>
                </a:r>
                <a:endParaRPr lang="en-US" altLang="zh-CN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Aggregate daily </a:t>
                </a:r>
                <a:r>
                  <a:rPr lang="en-US" altLang="en-US"/>
                  <a:t>→</a:t>
                </a:r>
                <a:r>
                  <a:rPr lang="en-US" altLang="zh-CN"/>
                  <a:t> monthly and compute same-month z-scores using a 2019–2023 baseline.</a:t>
                </a:r>
                <a:endParaRPr lang="en-US" altLang="zh-CN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35" y="1393190"/>
                <a:ext cx="9956800" cy="12001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5095" y="3031490"/>
                <a:ext cx="8985885" cy="3388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Transform: </a:t>
                </a:r>
                <a:r>
                  <a:rPr lang="en-US" altLang="zh-CN"/>
                  <a:t>sum daily </a:t>
                </a:r>
                <a:r>
                  <a:rPr lang="en-US" altLang="en-US"/>
                  <a:t>→</a:t>
                </a:r>
                <a:r>
                  <a:rPr lang="en-US" altLang="zh-CN"/>
                  <a:t> monthly by port; create </a:t>
                </a:r>
                <a:r>
                  <a:rPr lang="en-US" altLang="zh-CN" i="1"/>
                  <a:t>ym</a:t>
                </a:r>
                <a:endParaRPr lang="en-US" altLang="zh-CN" i="1"/>
              </a:p>
              <a:p>
                <a:pPr marL="285750" indent="-285750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Standardize:</a:t>
                </a:r>
                <a:r>
                  <a:rPr lang="en-US" altLang="zh-CN"/>
                  <a:t> compute same-month z-scores vs 2019–2023 to obtain dependent variables:</a:t>
                </a:r>
                <a:endParaRPr lang="en-US" altLang="zh-CN"/>
              </a:p>
              <a:p>
                <a:pPr marL="742950" lvl="1" indent="-285750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𝑐𝑎𝑙𝑙</m:t>
                        </m:r>
                      </m:sub>
                    </m:sSub>
                  </m:oMath>
                </a14:m>
                <a:r>
                  <a:rPr lang="en-US" altLang="zh-CN"/>
                  <a:t> = z of Monthly Port Calls</a:t>
                </a:r>
                <a:endParaRPr lang="en-US" altLang="zh-CN"/>
              </a:p>
              <a:p>
                <a:pPr marL="742950" lvl="1" indent="-285750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𝑖𝑚𝑝</m:t>
                        </m:r>
                      </m:sub>
                    </m:sSub>
                  </m:oMath>
                </a14:m>
                <a:r>
                  <a:rPr lang="en-US" altLang="zh-CN"/>
                  <a:t> = z of Estimated Import Tonnage</a:t>
                </a:r>
                <a:endParaRPr lang="en-US" altLang="zh-CN"/>
              </a:p>
              <a:p>
                <a:pPr marL="742950" lvl="1" indent="-285750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en-US" altLang="zh-CN"/>
                  <a:t> = z of Estimated Export Tonnage</a:t>
                </a:r>
                <a:endParaRPr lang="en-US" altLang="zh-CN"/>
              </a:p>
              <a:p>
                <a:pPr indent="0">
                  <a:lnSpc>
                    <a:spcPct val="170000"/>
                  </a:lnSpc>
                  <a:buFont typeface="Arial" panose="020B0604020202020204" pitchFamily="34" charset="0"/>
                  <a:buNone/>
                </a:pPr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5" y="3031490"/>
                <a:ext cx="8985885" cy="338836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 descr="eq_full_bloc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3900" y="4252595"/>
            <a:ext cx="6452235" cy="1912620"/>
          </a:xfrm>
          <a:prstGeom prst="rect">
            <a:avLst/>
          </a:prstGeom>
        </p:spPr>
      </p:pic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4583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UNCTAD | PLSCI (port-level connectivity)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6200" y="3463925"/>
                <a:ext cx="8985885" cy="2417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2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/>
                  <a:t>Restrict to the strict pre-event window, 2019–2023</a:t>
                </a:r>
                <a:endParaRPr lang="en-US" altLang="zh-CN"/>
              </a:p>
              <a:p>
                <a:pPr marL="285750" indent="-285750">
                  <a:lnSpc>
                    <a:spcPct val="2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/>
                  <a:t>For each port, compute the pre-event mean;</a:t>
                </a:r>
                <a:endParaRPr lang="en-US" altLang="zh-CN"/>
              </a:p>
              <a:p>
                <a:pPr marL="285750" indent="-285750">
                  <a:lnSpc>
                    <a:spcPct val="2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/>
                  <a:t>Standardize across ports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.</a:t>
                </a:r>
                <a:endParaRPr lang="en-US" altLang="zh-CN"/>
              </a:p>
              <a:p>
                <a:pPr marL="285750" indent="-285750">
                  <a:lnSpc>
                    <a:spcPct val="2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/>
                  <a:t>Use: Treat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 as a pre-determined exposure</a:t>
                </a:r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463925"/>
                <a:ext cx="8985885" cy="24174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450215" y="1135380"/>
            <a:ext cx="10694670" cy="885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30603" y="1037434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>
              <p:custDataLst>
                <p:tags r:id="rId5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520065" y="1256665"/>
                <a:ext cx="99568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UNCTAD | PLSCI (port-level connectivity)</a:t>
                </a:r>
                <a:endParaRPr lang="en-US" altLang="zh-CN" b="1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/>
                  <a:t>Compute and standardize to construct network connectivity exposure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65" y="1256665"/>
                <a:ext cx="9956800" cy="6451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259715" y="2510155"/>
            <a:ext cx="115589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000"/>
              <a:t>This is a port-level, quarterly index (0–100) that measures each port’s liner-shipping connectivity—its embeddedness in global mainlines.</a:t>
            </a:r>
            <a:endParaRPr lang="en-US" altLang="zh-CN" sz="2000"/>
          </a:p>
        </p:txBody>
      </p:sp>
      <p:pic>
        <p:nvPicPr>
          <p:cNvPr id="26" name="图片 25" descr="eq_plsci_blo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400" y="3569335"/>
            <a:ext cx="8475345" cy="220726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86385" y="21697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Network Exposure</a:t>
            </a:r>
            <a:endParaRPr lang="en-US" altLang="zh-CN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6971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Ports metadata &amp; Natural Earth 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341630" y="1315085"/>
            <a:ext cx="10694670" cy="1079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/>
          <p:cNvGrpSpPr/>
          <p:nvPr>
            <p:custDataLst>
              <p:tags r:id="rId2"/>
            </p:custDataLst>
          </p:nvPr>
        </p:nvGrpSpPr>
        <p:grpSpPr>
          <a:xfrm>
            <a:off x="222018" y="121713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27050" y="1387475"/>
            <a:ext cx="99568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IMF PortWatch | Ports metadata (port roster &amp; coordinates)</a:t>
            </a:r>
            <a:endParaRPr lang="en-US" altLang="zh-CN" b="1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b="1">
                <a:sym typeface="+mn-ea"/>
              </a:rPr>
              <a:t>Natural Earth (coastlines/boundaries/representative points)</a:t>
            </a:r>
            <a:endParaRPr lang="en-US" altLang="zh-CN" b="1"/>
          </a:p>
          <a:p>
            <a:pPr indent="0">
              <a:buFont typeface="Arial" panose="020B0604020202020204" pitchFamily="34" charset="0"/>
              <a:buNone/>
            </a:pP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7315" y="4633595"/>
                <a:ext cx="7313930" cy="2036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lnSpc>
                    <a:spcPct val="140000"/>
                  </a:lnSpc>
                  <a:buFont typeface="Arial" panose="020B0604020202020204" pitchFamily="34" charset="0"/>
                  <a:buNone/>
                </a:pPr>
                <a:r>
                  <a:rPr lang="en-US" altLang="zh-CN" b="1"/>
                  <a:t>Compute two-leg great-circle distances:</a:t>
                </a:r>
                <a:endParaRPr lang="en-US" altLang="zh-CN" b="1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via_suez</a:t>
                </a:r>
                <a:r>
                  <a:rPr lang="en-US" altLang="zh-CN"/>
                  <a:t> = d(port, Suez) + d(Suez, ref)</a:t>
                </a:r>
                <a:endParaRPr lang="en-US" altLang="zh-CN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via_cape</a:t>
                </a:r>
                <a:r>
                  <a:rPr lang="en-US" altLang="zh-CN"/>
                  <a:t> = d(port, Cape) + d(Cape, ref)</a:t>
                </a:r>
                <a:endParaRPr lang="en-US" altLang="zh-CN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Δkm</a:t>
                </a:r>
                <a:r>
                  <a:rPr lang="en-US" altLang="zh-CN"/>
                  <a:t> = via_cape − via_suez</a:t>
                </a:r>
                <a:endParaRPr lang="en-US" altLang="zh-CN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Standardize across ports: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/>
                  <a:t> = (Δkm − mean)/sd</a:t>
                </a:r>
                <a:r>
                  <a:rPr lang="zh-CN" altLang="en-US"/>
                  <a:t>。</a:t>
                </a: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5" y="4633595"/>
                <a:ext cx="7313930" cy="20364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40335" y="3288030"/>
            <a:ext cx="10142855" cy="140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Data from portwatch_ports: 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Suez lat = 30.003</a:t>
            </a:r>
            <a:r>
              <a:rPr lang="zh-CN" altLang="en-US"/>
              <a:t>，</a:t>
            </a:r>
            <a:r>
              <a:rPr lang="en-US" altLang="zh-CN"/>
              <a:t>lon = 32.580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Cape lat = −34.356</a:t>
            </a:r>
            <a:r>
              <a:rPr lang="zh-CN" altLang="en-US"/>
              <a:t>，</a:t>
            </a:r>
            <a:r>
              <a:rPr lang="en-US" altLang="zh-CN"/>
              <a:t>lon = 18.474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ref point (European/Mediterranean)  </a:t>
            </a:r>
            <a:br>
              <a:rPr lang="en-US" altLang="zh-CN"/>
            </a:br>
            <a:r>
              <a:rPr lang="en-US" altLang="zh-CN">
                <a:ea typeface="Arial" panose="020B0604020202020204" pitchFamily="34" charset="0"/>
              </a:rPr>
              <a:t>lat = 36.818</a:t>
            </a:r>
            <a:r>
              <a:rPr lang="zh-CN" altLang="en-US">
                <a:ea typeface="Arial" panose="020B0604020202020204" pitchFamily="34" charset="0"/>
              </a:rPr>
              <a:t>，</a:t>
            </a:r>
            <a:r>
              <a:rPr lang="en-US" altLang="zh-CN">
                <a:ea typeface="Arial" panose="020B0604020202020204" pitchFamily="34" charset="0"/>
              </a:rPr>
              <a:t>lon = 10.165</a:t>
            </a:r>
            <a:endParaRPr lang="en-US" altLang="zh-CN">
              <a:ea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543788" y="2523618"/>
            <a:ext cx="4883672" cy="4210021"/>
            <a:chOff x="29358" y="16131"/>
            <a:chExt cx="21038" cy="16098"/>
          </a:xfrm>
        </p:grpSpPr>
        <p:grpSp>
          <p:nvGrpSpPr>
            <p:cNvPr id="47" name="组合 46"/>
            <p:cNvGrpSpPr/>
            <p:nvPr/>
          </p:nvGrpSpPr>
          <p:grpSpPr>
            <a:xfrm>
              <a:off x="29358" y="16131"/>
              <a:ext cx="19354" cy="13874"/>
              <a:chOff x="30697" y="16099"/>
              <a:chExt cx="18014" cy="13267"/>
            </a:xfrm>
          </p:grpSpPr>
          <p:pic>
            <p:nvPicPr>
              <p:cNvPr id="48" name="图片 47" descr="1762940600"/>
              <p:cNvPicPr>
                <a:picLocks noChangeAspect="1"/>
              </p:cNvPicPr>
              <p:nvPr/>
            </p:nvPicPr>
            <p:blipFill>
              <a:blip r:embed="rId6"/>
              <a:srcRect l="26175" r="5938"/>
              <a:stretch>
                <a:fillRect/>
              </a:stretch>
            </p:blipFill>
            <p:spPr>
              <a:xfrm>
                <a:off x="30697" y="16099"/>
                <a:ext cx="18014" cy="13267"/>
              </a:xfrm>
              <a:prstGeom prst="rect">
                <a:avLst/>
              </a:prstGeom>
            </p:spPr>
          </p:pic>
          <p:sp>
            <p:nvSpPr>
              <p:cNvPr id="49" name="椭圆 48"/>
              <p:cNvSpPr/>
              <p:nvPr/>
            </p:nvSpPr>
            <p:spPr>
              <a:xfrm>
                <a:off x="42699" y="21484"/>
                <a:ext cx="518" cy="493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39248" y="20429"/>
                <a:ext cx="518" cy="493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36946" y="19793"/>
                <a:ext cx="518" cy="493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 rot="1380000">
                <a:off x="40327" y="20215"/>
                <a:ext cx="5856" cy="9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600" b="1">
                    <a:solidFill>
                      <a:schemeClr val="accent1">
                        <a:lumMod val="50000"/>
                      </a:schemeClr>
                    </a:solidFill>
                    <a:sym typeface="+mn-ea"/>
                  </a:rPr>
                  <a:t>d(port, Suez)</a:t>
                </a:r>
                <a:endParaRPr lang="zh-CN" altLang="en-US" sz="1600" b="1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zh-CN" altLang="en-US" sz="1600" b="1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3" name="直接箭头连接符 52"/>
              <p:cNvCxnSpPr>
                <a:endCxn id="50" idx="6"/>
              </p:cNvCxnSpPr>
              <p:nvPr/>
            </p:nvCxnSpPr>
            <p:spPr>
              <a:xfrm flipH="1" flipV="1">
                <a:off x="39766" y="20675"/>
                <a:ext cx="3086" cy="845"/>
              </a:xfrm>
              <a:prstGeom prst="straightConnector1">
                <a:avLst/>
              </a:prstGeom>
              <a:ln w="47625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endCxn id="51" idx="1"/>
              </p:cNvCxnSpPr>
              <p:nvPr/>
            </p:nvCxnSpPr>
            <p:spPr>
              <a:xfrm flipH="1" flipV="1">
                <a:off x="37020" y="19864"/>
                <a:ext cx="2060" cy="643"/>
              </a:xfrm>
              <a:prstGeom prst="straightConnector1">
                <a:avLst/>
              </a:prstGeom>
              <a:ln w="44450" cmpd="sng">
                <a:solidFill>
                  <a:srgbClr val="4874CB"/>
                </a:solidFill>
                <a:prstDash val="sysDot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5" name="文本框 54"/>
              <p:cNvSpPr txBox="1"/>
              <p:nvPr/>
            </p:nvSpPr>
            <p:spPr>
              <a:xfrm>
                <a:off x="35433" y="18643"/>
                <a:ext cx="4927" cy="10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1600" b="1">
                    <a:solidFill>
                      <a:schemeClr val="accent1">
                        <a:lumMod val="50000"/>
                      </a:schemeClr>
                    </a:solidFill>
                    <a:sym typeface="+mn-ea"/>
                  </a:rPr>
                  <a:t>d(Suez, ref)</a:t>
                </a:r>
                <a:endParaRPr lang="en-US" altLang="zh-CN" sz="1600" b="1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zh-CN" altLang="en-US" sz="1000" b="1"/>
              </a:p>
              <a:p>
                <a:endParaRPr lang="zh-CN" altLang="en-US" sz="1000" b="1"/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38354" y="25001"/>
                <a:ext cx="518" cy="493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cxnSp>
            <p:nvCxnSpPr>
              <p:cNvPr id="57" name="直接箭头连接符 56"/>
              <p:cNvCxnSpPr>
                <a:stCxn id="49" idx="2"/>
                <a:endCxn id="56" idx="6"/>
              </p:cNvCxnSpPr>
              <p:nvPr/>
            </p:nvCxnSpPr>
            <p:spPr>
              <a:xfrm flipH="1">
                <a:off x="38869" y="21732"/>
                <a:ext cx="3829" cy="3515"/>
              </a:xfrm>
              <a:prstGeom prst="straightConnector1">
                <a:avLst/>
              </a:prstGeom>
              <a:ln w="63500" cmpd="dbl">
                <a:solidFill>
                  <a:srgbClr val="4874CB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8" name="文本框 57"/>
              <p:cNvSpPr txBox="1"/>
              <p:nvPr/>
            </p:nvSpPr>
            <p:spPr>
              <a:xfrm>
                <a:off x="40528" y="23113"/>
                <a:ext cx="5619" cy="2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1600" b="1">
                    <a:solidFill>
                      <a:schemeClr val="accent1">
                        <a:lumMod val="50000"/>
                      </a:schemeClr>
                    </a:solidFill>
                    <a:sym typeface="+mn-ea"/>
                  </a:rPr>
                  <a:t>d(port, Cape)</a:t>
                </a:r>
                <a:endParaRPr lang="en-US" altLang="zh-CN" sz="1600" b="1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n-US" altLang="zh-CN" sz="1600" b="1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59" name="直接箭头连接符 58"/>
              <p:cNvCxnSpPr>
                <a:endCxn id="51" idx="2"/>
              </p:cNvCxnSpPr>
              <p:nvPr/>
            </p:nvCxnSpPr>
            <p:spPr>
              <a:xfrm flipH="1" flipV="1">
                <a:off x="36946" y="20038"/>
                <a:ext cx="1349" cy="5099"/>
              </a:xfrm>
              <a:prstGeom prst="straightConnector1">
                <a:avLst/>
              </a:prstGeom>
              <a:ln w="47625" cmpd="sng">
                <a:solidFill>
                  <a:srgbClr val="4874CB"/>
                </a:solidFill>
                <a:prstDash val="lgDashDot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0" name="文本框 59"/>
              <p:cNvSpPr txBox="1"/>
              <p:nvPr/>
            </p:nvSpPr>
            <p:spPr>
              <a:xfrm>
                <a:off x="31987" y="21130"/>
                <a:ext cx="5031" cy="2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1600" b="1">
                    <a:solidFill>
                      <a:schemeClr val="accent1">
                        <a:lumMod val="50000"/>
                      </a:schemeClr>
                    </a:solidFill>
                    <a:sym typeface="+mn-ea"/>
                  </a:rPr>
                  <a:t>d(Cape, ref)</a:t>
                </a:r>
                <a:endParaRPr lang="en-US" altLang="zh-CN" sz="1600" b="1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en-US" altLang="zh-CN" sz="1600" b="1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文本框 60"/>
                <p:cNvSpPr txBox="1"/>
                <p:nvPr/>
              </p:nvSpPr>
              <p:spPr>
                <a:xfrm>
                  <a:off x="30638" y="30233"/>
                  <a:ext cx="19758" cy="1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i="1"/>
                    <a:t>Figure 3. Geographic deviation for port i: 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∆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𝑘𝑚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𝑑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, 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𝑑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, 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1400" i="1">
                          <a:latin typeface="Cambria Math" panose="02040503050406030204" charset="0"/>
                          <a:ea typeface="Arial" panose="020B0604020202020204" pitchFamily="34" charset="0"/>
                          <a:cs typeface="Cambria Math" panose="02040503050406030204" charset="0"/>
                        </a:rPr>
                        <m:t>)−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𝑑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𝑃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, 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𝑆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)+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𝑑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𝑆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, 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𝑅</m:t>
                          </m:r>
                          <m:r>
                            <a:rPr lang="en-US" altLang="zh-CN" sz="1400" i="1">
                              <a:latin typeface="Cambria Math" panose="02040503050406030204" charset="0"/>
                              <a:ea typeface="Arial" panose="020B0604020202020204" pitchFamily="3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d>
                    </m:oMath>
                  </a14:m>
                  <a:endParaRPr lang="en-US" altLang="zh-CN" sz="1400" i="1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61" name="文本框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8" y="30233"/>
                  <a:ext cx="19758" cy="1996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文本框 61"/>
            <p:cNvSpPr txBox="1"/>
            <p:nvPr/>
          </p:nvSpPr>
          <p:spPr>
            <a:xfrm>
              <a:off x="42842" y="21951"/>
              <a:ext cx="767" cy="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solidFill>
                    <a:srgbClr val="1E386B"/>
                  </a:solidFill>
                </a:rPr>
                <a:t>P</a:t>
              </a:r>
              <a:endParaRPr lang="en-US" altLang="zh-CN" sz="1600" b="1">
                <a:solidFill>
                  <a:srgbClr val="1E386B"/>
                </a:solidFill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7056" y="25588"/>
              <a:ext cx="1000" cy="15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rgbClr val="1E386B"/>
                  </a:solidFill>
                </a:rPr>
                <a:t>c</a:t>
              </a:r>
              <a:endParaRPr lang="en-US" altLang="zh-CN" sz="2000" b="1">
                <a:solidFill>
                  <a:srgbClr val="1E386B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4748" y="19887"/>
              <a:ext cx="867" cy="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solidFill>
                    <a:srgbClr val="1E386B"/>
                  </a:solidFill>
                </a:rPr>
                <a:t>R</a:t>
              </a:r>
              <a:endParaRPr lang="en-US" altLang="zh-CN" sz="1600" b="1">
                <a:solidFill>
                  <a:srgbClr val="1E386B"/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7878" y="21046"/>
              <a:ext cx="950" cy="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>
                  <a:solidFill>
                    <a:srgbClr val="1E386B"/>
                  </a:solidFill>
                </a:rPr>
                <a:t>S</a:t>
              </a:r>
              <a:endParaRPr lang="en-US" altLang="zh-CN" sz="1600" b="1">
                <a:solidFill>
                  <a:srgbClr val="1E386B"/>
                </a:solidFill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0335" y="25654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Geography Exposure</a:t>
            </a:r>
            <a:endParaRPr lang="en-US" altLang="zh-CN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215" y="730885"/>
            <a:ext cx="45834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Marine Regions—IHO Sea Areas shapefile 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41753" y="34734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341630" y="1248410"/>
            <a:ext cx="10694670" cy="1108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2"/>
            </p:custDataLst>
          </p:nvPr>
        </p:nvGrpSpPr>
        <p:grpSpPr>
          <a:xfrm>
            <a:off x="222018" y="1150464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27050" y="1369695"/>
            <a:ext cx="99568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Natural Earth (coastlines/boundaries/representative points)</a:t>
            </a:r>
            <a:endParaRPr lang="en-US" altLang="zh-CN" b="1"/>
          </a:p>
          <a:p>
            <a:pPr indent="0">
              <a:buFont typeface="Arial" panose="020B0604020202020204" pitchFamily="34" charset="0"/>
              <a:buNone/>
            </a:pPr>
            <a:endParaRPr lang="en-US" altLang="zh-CN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b="1"/>
              <a:t>Marine Regions—IHO Sea Areas shapefile </a:t>
            </a:r>
            <a:endParaRPr lang="en-US" altLang="zh-CN" b="1"/>
          </a:p>
        </p:txBody>
      </p:sp>
      <p:sp>
        <p:nvSpPr>
          <p:cNvPr id="24" name="文本框 23"/>
          <p:cNvSpPr txBox="1"/>
          <p:nvPr/>
        </p:nvSpPr>
        <p:spPr>
          <a:xfrm>
            <a:off x="222250" y="2567305"/>
            <a:ext cx="11382375" cy="3688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It is a dataset containing the boundaries of the world’s oceans and seas, with polygons representing various seas and basins according to the IHO S-23 standard.</a:t>
            </a:r>
            <a:endParaRPr lang="en-US" altLang="zh-CN"/>
          </a:p>
          <a:p>
            <a:pPr>
              <a:lnSpc>
                <a:spcPct val="130000"/>
              </a:lnSpc>
            </a:pP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Content:</a:t>
            </a:r>
            <a:r>
              <a:rPr lang="en-US" altLang="zh-CN"/>
              <a:t> The dataset contains the boundary data for each sea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b="1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Point-in-Polygon Matching: </a:t>
            </a:r>
            <a:r>
              <a:rPr lang="en-US" altLang="zh-CN"/>
              <a:t>We used the geoinpoly command to match the latitude and longitude of each port to the sea polygons, determining which basin each port belongs to.</a:t>
            </a:r>
            <a:endParaRPr lang="en-US" altLang="zh-CN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b="1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Standardization and Quality Control:</a:t>
            </a:r>
            <a:r>
              <a:rPr lang="en-US" altLang="zh-CN"/>
              <a:t> After matching, I created a mapping of each port to its corresponding basin, handling unmatched ports with a fallback method (such as using the nearest basin).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4019550"/>
            <a:ext cx="6761480" cy="62420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214630" y="1148715"/>
                <a:ext cx="10711815" cy="25444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Time: 2023 December, and </a:t>
                </a:r>
                <a:r>
                  <a:rPr lang="en-US" altLang="en-US" sz="2000"/>
                  <a:t>±</a:t>
                </a:r>
                <a:r>
                  <a:rPr lang="en-US" altLang="zh-CN" sz="2000"/>
                  <a:t>12 months as the main event window to ensure a clean baseline.</a:t>
                </a: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Donut: </a:t>
                </a:r>
                <a:r>
                  <a:rPr lang="en-US" altLang="zh-CN" sz="2000"/>
                  <a:t>Relk k = −1</a:t>
                </a: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DID—Treat/Post: Countinuos intensity variable </a:t>
                </a:r>
                <a:r>
                  <a:rPr lang="en-US" altLang="zh-CN" sz="2000"/>
                  <a:t>E</a:t>
                </a: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b="1" u="sng"/>
                  <a:t>reghdfe z_imp c.E##ib(-2).relk panama balt, absorb(port_id ym) vce(cluster basin)</a:t>
                </a:r>
                <a:br>
                  <a:rPr lang="en-US" altLang="zh-CN" sz="2000" b="1" u="sng"/>
                </a:b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altLang="zh-CN" sz="200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𝑖𝑚𝑝</m:t>
                        </m:r>
                      </m:sub>
                    </m:sSub>
                  </m:oMath>
                </a14:m>
                <a:r>
                  <a:rPr lang="en-US" altLang="zh-CN" sz="20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𝑐𝑎𝑙𝑙𝑠</m:t>
                        </m:r>
                      </m:sub>
                    </m:sSub>
                  </m:oMath>
                </a14:m>
                <a:r>
                  <a:rPr lang="en-US" altLang="zh-CN" sz="2000"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𝑍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𝑒𝑥𝑝</m:t>
                        </m:r>
                      </m:sub>
                    </m:sSub>
                  </m:oMath>
                </a14:m>
                <a:endParaRPr lang="en-US" altLang="zh-CN" sz="2000">
                  <a:sym typeface="+mn-ea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/>
                  <a:t> 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/>
                  <a:t> is the pre-event exposure (can be E or separately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𝑜𝑟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 sz="2000"/>
                  <a:t>); </a:t>
                </a:r>
                <a:endParaRPr lang="en-US" altLang="zh-CN" sz="20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αi is the port fixed effect (FE); </a:t>
                </a:r>
                <a:endParaRPr lang="en-US" altLang="zh-CN" sz="20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λb,t is the month fixed effect (FE); </a:t>
                </a:r>
                <a:endParaRPr lang="en-US" altLang="zh-CN" sz="200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/>
                  <a:t>Xt includes concurrent dummy variables: Panama Canal Restrictions (Starting from November 3, 2023) Baltimore Resumption (Starting from June 10, 2024). </a:t>
                </a:r>
                <a:endParaRPr lang="en-US" altLang="zh-CN" sz="200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30" y="1148715"/>
                <a:ext cx="10711815" cy="2544445"/>
              </a:xfrm>
              <a:prstGeom prst="rect">
                <a:avLst/>
              </a:prstGeom>
              <a:blipFill rotWithShape="1">
                <a:blip r:embed="rId2"/>
                <a:stretch>
                  <a:fillRect b="-118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 descr="eq_combin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65" y="2360930"/>
            <a:ext cx="7019925" cy="927100"/>
          </a:xfrm>
          <a:prstGeom prst="rect">
            <a:avLst/>
          </a:prstGeom>
        </p:spPr>
      </p:pic>
      <p:pic>
        <p:nvPicPr>
          <p:cNvPr id="28" name="图片 27" descr="eq_st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15" y="2326640"/>
            <a:ext cx="7279005" cy="96139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0215" y="730885"/>
            <a:ext cx="4583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1" u="sng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Main regression</a:t>
            </a:r>
            <a:endParaRPr lang="en-US" altLang="zh-CN" sz="1400" b="1" u="sng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50215" y="300355"/>
            <a:ext cx="8335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Data Sources &amp; Variable Construction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4630" y="1140460"/>
            <a:ext cx="9981565" cy="537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/>
              <a:t>Convert the “path” into the Peak and Half-Life (HL) for each port.</a:t>
            </a:r>
            <a:endParaRPr lang="en-US" altLang="zh-CN" sz="2400" b="1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16585" y="1673860"/>
          <a:ext cx="2818130" cy="4717415"/>
        </p:xfrm>
        <a:graphic>
          <a:graphicData uri="http://schemas.openxmlformats.org/drawingml/2006/table">
            <a:tbl>
              <a:tblPr/>
              <a:tblGrid>
                <a:gridCol w="1912620"/>
                <a:gridCol w="905510"/>
              </a:tblGrid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-0.045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-0.019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-0.164***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-0.055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-0.031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6.relk_pos#c.E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-0.007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7.relk_pos#c.E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-0.093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8.relk_pos#c.E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-0.103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10.relk_pos#c.E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-0.113*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12.relk_pos#c.E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-0.122*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13.relk_pos#c.E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-0.144*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14.relk_pos#c.E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-0.055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15.relk_pos#c.E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-0.172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16.relk_pos#c.E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-0.076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17.relk_pos#c.E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-0.210***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18.relk_pos#c.E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-0.159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19.relk_pos#c.E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-0.169**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20.relk_pos#c.E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-0.341***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21.relk_pos#c.E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-0.216**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22.relk_pos#c.E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-0.287***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23.relk_pos#c.E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-0.352***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510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24.relk_pos#c.E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-0.169*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842385" y="1633220"/>
            <a:ext cx="7766050" cy="4754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βkis the “global slope per unit exposure.</a:t>
            </a:r>
            <a:endParaRPr lang="en-US" altLang="zh-CN" sz="200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To compare how much and how long each port “drops and recovers,” multiply the path coefficient by that port’s E to obtain the predicted path for port i:</a:t>
            </a:r>
            <a:endParaRPr lang="en-US" altLang="zh-CN" sz="2000"/>
          </a:p>
          <a:p>
            <a:pPr indent="457200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altLang="zh-CN" sz="2000"/>
              <a:t>Y</a:t>
            </a:r>
            <a:r>
              <a:rPr lang="en-US" altLang="en-US" sz="2000"/>
              <a:t>ᵢ</a:t>
            </a:r>
            <a:r>
              <a:rPr lang="en-US" altLang="en-US" sz="2000"/>
              <a:t>ₖ</a:t>
            </a:r>
            <a:r>
              <a:rPr lang="en-US" altLang="zh-CN" sz="2000"/>
              <a:t> = E</a:t>
            </a:r>
            <a:r>
              <a:rPr lang="en-US" altLang="en-US" sz="2000"/>
              <a:t>ᵢ</a:t>
            </a:r>
            <a:r>
              <a:rPr lang="en-US" altLang="zh-CN" sz="2000"/>
              <a:t> ⋅ β</a:t>
            </a:r>
            <a:r>
              <a:rPr lang="en-US" altLang="en-US" sz="2000"/>
              <a:t>ₖ</a:t>
            </a:r>
            <a:endParaRPr lang="en-US" altLang="en-US" sz="2000"/>
          </a:p>
          <a:p>
            <a:pPr marL="285750" lvl="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Then obtain each port i’s β</a:t>
            </a:r>
            <a:r>
              <a:rPr lang="en-US" altLang="en-US" sz="2000"/>
              <a:t>ₖ</a:t>
            </a:r>
            <a:r>
              <a:rPr lang="en-US" altLang="zh-CN" sz="2000"/>
              <a:t> for every k.</a:t>
            </a:r>
            <a:endParaRPr lang="en-US" altLang="zh-CN" sz="2000"/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Peak: the minimum pred_eff of each port.</a:t>
            </a:r>
            <a:endParaRPr lang="en-US" altLang="zh-CN" sz="2000"/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zh-CN" sz="2000"/>
              <a:t>HL: find the earliest k such that pred_eff ≥ Peak / 2.</a:t>
            </a:r>
            <a:endParaRPr lang="en-US" altLang="zh-CN" sz="20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0215" y="730885"/>
            <a:ext cx="4583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Half Life 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7210" y="64928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/>
              <a:t>Table 1: coeffcient of E on calls every month</a:t>
            </a:r>
            <a:endParaRPr lang="en-US" altLang="zh-CN" sz="1400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35085" y="4437380"/>
            <a:ext cx="2232660" cy="1696085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193165" y="1939925"/>
            <a:ext cx="1635760" cy="1591945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Arial" panose="020B0604020202020204" pitchFamily="34" charset="0"/>
              </a:rPr>
              <a:t>4</a:t>
            </a:r>
            <a:endParaRPr lang="en-US" altLang="zh-CN" sz="13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48330" y="1990725"/>
            <a:ext cx="6547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Result and Analysis </a:t>
            </a:r>
            <a:endParaRPr lang="en-US" altLang="zh-CN" sz="4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613899" y="2999104"/>
            <a:ext cx="126555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427095" y="3070225"/>
                <a:ext cx="8210550" cy="31921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Baseline dynamic impact of exposure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 on port calls</a:t>
                </a:r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Flow pattern by exposure quartiles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Effect of network exposure on port calls, East/Southeast Asia basin</a:t>
                </a:r>
                <a:endPara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Arial" panose="020B0604020202020204" pitchFamily="34" charset="0"/>
                  <a:sym typeface="+mn-ea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>
                    <a:sym typeface="+mn-ea"/>
                  </a:rPr>
                  <a:t>Effect of Geographic exposure on exports, North Atlantic basin</a:t>
                </a:r>
                <a:endParaRPr lang="en-US" altLang="zh-CN">
                  <a:sym typeface="+mn-ea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>
                    <a:sym typeface="+mn-ea"/>
                  </a:rPr>
                  <a:t>Effect of E² on port calls, Nordic–Arctic Shelf basin</a:t>
                </a:r>
                <a:endParaRPr lang="en-US" altLang="zh-CN">
                  <a:sym typeface="+mn-ea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en-US" altLang="zh-CN">
                    <a:sym typeface="+mn-ea"/>
                  </a:rPr>
                  <a:t>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sym typeface="+mn-ea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sym typeface="+mn-ea"/>
                          </a:rPr>
                          <m:t>net</m:t>
                        </m:r>
                      </m:sub>
                    </m:sSub>
                    <m:r>
                      <a:rPr lang="en-US" altLang="zh-CN">
                        <a:latin typeface="Cambria Math" panose="02040503050406030204" charset="0"/>
                        <a:sym typeface="+mn-ea"/>
                      </a:rPr>
                      <m:t> </m:t>
                    </m:r>
                  </m:oMath>
                </a14:m>
                <a:r>
                  <a:rPr lang="en-US" altLang="zh-CN">
                    <a:sym typeface="+mn-ea"/>
                  </a:rPr>
                  <a:t>on port calls, Suez–Red–Aden basin</a:t>
                </a:r>
                <a:endParaRPr lang="en-US" altLang="zh-CN">
                  <a:sym typeface="+mn-ea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marL="285750" indent="-28575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  <a:p>
                <a:pPr indent="0" algn="l">
                  <a:lnSpc>
                    <a:spcPct val="180000"/>
                  </a:lnSpc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dirty="0"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095" y="3070225"/>
                <a:ext cx="8210550" cy="3192145"/>
              </a:xfrm>
              <a:prstGeom prst="rect">
                <a:avLst/>
              </a:prstGeom>
              <a:blipFill rotWithShape="1">
                <a:blip r:embed="rId1"/>
                <a:stretch>
                  <a:fillRect b="-43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149985"/>
            <a:ext cx="480441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095375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50215" y="300355"/>
            <a:ext cx="10422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Result 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and Analysis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0" name="图片 39" descr="es_y_calls_raw_E_sq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" y="1945005"/>
            <a:ext cx="4876165" cy="35648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74285" y="1031875"/>
            <a:ext cx="7117715" cy="394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Outcome:</a:t>
            </a:r>
            <a:r>
              <a:rPr lang="en-US" altLang="zh-CN" sz="2000"/>
              <a:t> standardized port-level call index (2019–2023 baseline)</a:t>
            </a:r>
            <a:endParaRPr lang="en-US" altLang="zh-CN" sz="20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Pre-event: </a:t>
            </a:r>
            <a:r>
              <a:rPr lang="en-US" altLang="zh-CN" sz="2000"/>
              <a:t>no differential trends across exposure levels</a:t>
            </a:r>
            <a:endParaRPr lang="en-US" altLang="zh-CN" sz="20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Short run:</a:t>
            </a:r>
            <a:r>
              <a:rPr lang="en-US" altLang="zh-CN" sz="2000"/>
              <a:t> small positive effects – front-loading and schedule compression.</a:t>
            </a:r>
            <a:br>
              <a:rPr lang="en-US" altLang="zh-CN" sz="2000"/>
            </a:br>
            <a:r>
              <a:rPr lang="en-US" altLang="en-US" sz="2000"/>
              <a:t>→</a:t>
            </a:r>
            <a:r>
              <a:rPr lang="en-US" altLang="zh-CN" sz="2000"/>
              <a:t> front-loading and temporary schedule compression when routes are first reshuffled</a:t>
            </a:r>
            <a:endParaRPr lang="en-US" altLang="zh-CN" sz="20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Medium run: </a:t>
            </a:r>
            <a:r>
              <a:rPr lang="en-US" altLang="zh-CN" sz="2000"/>
              <a:t>sizeable negative effects – longer voyages and tighter fleet capacity.</a:t>
            </a:r>
            <a:br>
              <a:rPr lang="en-US" altLang="zh-CN" sz="2000"/>
            </a:br>
            <a:r>
              <a:rPr lang="en-US" altLang="en-US" sz="2000"/>
              <a:t>→</a:t>
            </a:r>
            <a:r>
              <a:rPr lang="en-US" altLang="zh-CN" sz="2000"/>
              <a:t> longer Cape detours lengthen round-trips and shrink effective monthly fleet capacity at highly exposed ports</a:t>
            </a:r>
            <a:endParaRPr lang="en-US" altLang="zh-CN" sz="20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Recovery:</a:t>
            </a:r>
            <a:r>
              <a:rPr lang="en-US" altLang="zh-CN" sz="2000"/>
              <a:t> partial unwinding as routes and schedules re-optimize.</a:t>
            </a:r>
            <a:br>
              <a:rPr lang="en-US" altLang="zh-CN" sz="2000"/>
            </a:br>
            <a:r>
              <a:rPr lang="en-US" altLang="en-US" sz="2000"/>
              <a:t>→</a:t>
            </a:r>
            <a:r>
              <a:rPr lang="en-US" altLang="zh-CN" sz="2000"/>
              <a:t> gradual re-optimization of routes and rotations, but losses remain negative within the one-year window</a:t>
            </a:r>
            <a:endParaRPr lang="en-US" altLang="zh-CN" sz="2000"/>
          </a:p>
        </p:txBody>
      </p:sp>
      <p:sp>
        <p:nvSpPr>
          <p:cNvPr id="10" name="文本框 9"/>
          <p:cNvSpPr txBox="1"/>
          <p:nvPr/>
        </p:nvSpPr>
        <p:spPr>
          <a:xfrm>
            <a:off x="326390" y="1235075"/>
            <a:ext cx="4402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Effect per 1-unit of E</a:t>
            </a:r>
            <a:r>
              <a:rPr lang="en-US" altLang="en-US"/>
              <a:t>²</a:t>
            </a:r>
            <a:r>
              <a:rPr lang="en-US" altLang="zh-CN"/>
              <a:t> on standardized call index</a:t>
            </a:r>
            <a:endParaRPr lang="en-US" altLang="zh-CN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50215" y="730885"/>
                <a:ext cx="4583430" cy="314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Baseline dynamic impact of exposure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 on port calls</a:t>
                </a:r>
                <a:endPara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15" y="730885"/>
                <a:ext cx="4583430" cy="3143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188720"/>
            <a:ext cx="480441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134110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50215" y="300355"/>
            <a:ext cx="10422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Result and Anaysis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19395" y="1185545"/>
            <a:ext cx="6873240" cy="394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Setup: </a:t>
            </a:r>
            <a:r>
              <a:rPr lang="en-US" altLang="zh-CN" sz="2000"/>
              <a:t>Ports are grouped into quartiles by exposure E</a:t>
            </a:r>
            <a:r>
              <a:rPr lang="en-US" altLang="en-US" sz="2000"/>
              <a:t>²</a:t>
            </a:r>
            <a:r>
              <a:rPr lang="en-US" altLang="zh-CN" sz="2000"/>
              <a:t> (Q1–Q4).</a:t>
            </a:r>
            <a:endParaRPr lang="en-US" altLang="zh-CN" sz="20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Low-exposure ports:</a:t>
            </a:r>
            <a:r>
              <a:rPr lang="en-US" altLang="zh-CN" sz="2000"/>
              <a:t> Q1–Q2 stay close to zero – low-exposure ports hardly move.</a:t>
            </a:r>
            <a:endParaRPr lang="en-US" altLang="zh-CN" sz="20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High-exposure ports:</a:t>
            </a:r>
            <a:r>
              <a:rPr lang="en-US" altLang="zh-CN" sz="2000"/>
              <a:t> Q4 shows a short-run bump and a large medium-run drop – highly exposed ports bear most of the adjustment.</a:t>
            </a:r>
            <a:br>
              <a:rPr lang="en-US" altLang="zh-CN" sz="2000"/>
            </a:br>
            <a:r>
              <a:rPr lang="en-US" altLang="zh-CN" sz="2000"/>
              <a:t>→rerouting via the Cape and limited fleet capacity concentrate both timing shifts and call losses on the most exposed ports.</a:t>
            </a:r>
            <a:endParaRPr lang="en-US" altLang="zh-CN" sz="20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000" b="1"/>
              <a:t>Next step: </a:t>
            </a:r>
            <a:r>
              <a:rPr lang="en-US" altLang="zh-CN" sz="2000"/>
              <a:t>This pattern motivates the basin-level results that follow.</a:t>
            </a:r>
            <a:endParaRPr lang="en-US" altLang="zh-CN" sz="2000"/>
          </a:p>
        </p:txBody>
      </p:sp>
      <p:sp>
        <p:nvSpPr>
          <p:cNvPr id="10" name="文本框 9"/>
          <p:cNvSpPr txBox="1"/>
          <p:nvPr/>
        </p:nvSpPr>
        <p:spPr>
          <a:xfrm>
            <a:off x="326390" y="1334770"/>
            <a:ext cx="48063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Dynamic effect of squared exposure (E²) on port calls by exposure quartile</a:t>
            </a:r>
            <a:endParaRPr lang="en-US" altLang="zh-CN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" y="2054225"/>
            <a:ext cx="4869180" cy="374523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0215" y="760095"/>
            <a:ext cx="4583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Flow pattern by exposure quartiles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237615"/>
            <a:ext cx="480441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183005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50215" y="324485"/>
            <a:ext cx="1151890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Result and Anaysis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319395" y="1069975"/>
                <a:ext cx="6873240" cy="542861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342900" indent="-34290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b="1"/>
                  <a:t>Network vs geography: </a:t>
                </a:r>
                <a:r>
                  <a:rPr lang="en-US" altLang="zh-CN" sz="2000"/>
                  <a:t>Asian ports differ a lot in hub role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 sz="2000"/>
                  <a:t>), but much less in detour distance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 sz="2000"/>
                  <a:t>).</a:t>
                </a:r>
                <a:endParaRPr lang="en-US" altLang="zh-CN" sz="2000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b="1"/>
                  <a:t>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 sz="2000" b="1"/>
                  <a:t> is significant:</a:t>
                </a:r>
                <a:r>
                  <a:rPr lang="en-US" altLang="zh-CN" sz="2000"/>
                  <a:t> Red Sea–Suez services are concentrated on high-E_net hubs, so rerouting via the Cape hits these ports hardest.</a:t>
                </a:r>
                <a:endParaRPr lang="en-US" altLang="zh-CN" sz="2000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b="1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 sz="2000" b="1"/>
                  <a:t> is weak:</a:t>
                </a:r>
                <a:r>
                  <a:rPr lang="en-US" altLang="zh-CN" sz="2000"/>
                  <a:t> most Asian ports face a similar extra sailing distance; what differs is trade composition (Europe vs transpacific / intra-Asia),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zh-CN" sz="2000"/>
                  <a:t> alone cannot capture.</a:t>
                </a:r>
                <a:endParaRPr lang="en-US" altLang="zh-CN" sz="2000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000" b="1"/>
                  <a:t>Stronger than global:</a:t>
                </a:r>
                <a:r>
                  <a:rPr lang="en-US" altLang="zh-CN" sz="2000"/>
                  <a:t> the global sample mixes many low-exposure ports; restricting to Asia zooms in on the core Asia–Europe corridor, so the coefficients become larger and clearer.</a:t>
                </a:r>
                <a:endParaRPr lang="en-US" altLang="zh-CN" sz="2000"/>
              </a:p>
              <a:p>
                <a:pPr marL="285750" indent="-285750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endParaRPr lang="en-US" altLang="zh-CN" sz="20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395" y="1069975"/>
                <a:ext cx="6873240" cy="5428615"/>
              </a:xfrm>
              <a:prstGeom prst="rect">
                <a:avLst/>
              </a:prstGeom>
              <a:blipFill rotWithShape="1">
                <a:blip r:embed="rId5"/>
                <a:stretch>
                  <a:fillRect b="-11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26390" y="1334770"/>
                <a:ext cx="480631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East/Southeast Asia basin – y: log call index, 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90" y="1334770"/>
                <a:ext cx="4806315" cy="6451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图片 71" descr="es_basin_E_East_Southeast_Asia_Region_y_y_calls_ln_x_E_net_ra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" y="2314575"/>
            <a:ext cx="4822190" cy="348170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0215" y="721360"/>
            <a:ext cx="6430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Effect of network exposure on port calls, East/Southeast Asia basin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149985"/>
            <a:ext cx="480441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095375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12750" y="201930"/>
            <a:ext cx="11518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Result and Anaysis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637405" y="949960"/>
                <a:ext cx="7468870" cy="59086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Network structure: </a:t>
                </a:r>
                <a:r>
                  <a:rPr lang="en-US" altLang="zh-CN"/>
                  <a:t>North Atlantic ports are all well connected;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 is high and similar across many ports.</a:t>
                </a:r>
                <a:endParaRPr lang="en-US" altLang="zh-CN"/>
              </a:p>
              <a:p>
                <a:pPr marL="3429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Trade orientation: </a:t>
                </a:r>
                <a:r>
                  <a:rPr lang="en-US" altLang="zh-CN"/>
                  <a:t>some ports are gateways for Suez-bound Asia trades, others are almost purely transatlantic – this split is not well picked up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zh-CN" altLang="en-US">
                    <a:ea typeface="Arial" panose="020B0604020202020204" pitchFamily="34" charset="0"/>
                  </a:rPr>
                  <a:t>。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Geography channel: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en-US"/>
                  <a:t>²</a:t>
                </a:r>
                <a:r>
                  <a:rPr lang="en-US" altLang="zh-CN"/>
                  <a:t> measures how much Cape detours stretch those Asia-bound routes; ports with the largest detours show the strongest and most persistent export losses.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Contrast with Asia: </a:t>
                </a:r>
                <a:r>
                  <a:rPr lang="en-US" altLang="zh-CN"/>
                  <a:t>in Asia, distance to Europe barely varies so geography cannot discriminate exposure and network embedding drives timing shifts; in the North Atlantic, detour distances differ a lot, so geography dominates the cross-section.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Why exports:</a:t>
                </a:r>
                <a:r>
                  <a:rPr lang="en-US" altLang="zh-CN"/>
                  <a:t> ships keep calling major ports to serve transatlantic and regional trades; when Cape detours make Asia-bound routes expensive, exporters cut those volumes while total calls change much less.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405" y="949960"/>
                <a:ext cx="7468870" cy="5908675"/>
              </a:xfrm>
              <a:prstGeom prst="rect">
                <a:avLst/>
              </a:prstGeom>
              <a:blipFill rotWithShape="1">
                <a:blip r:embed="rId5"/>
                <a:stretch>
                  <a:fillRect b="-9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12750" y="1299845"/>
                <a:ext cx="4321810" cy="647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>
                    <a:sym typeface="+mn-ea"/>
                  </a:rPr>
                  <a:t>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geo</m:t>
                        </m:r>
                      </m:sub>
                    </m:sSub>
                  </m:oMath>
                </a14:m>
                <a:r>
                  <a:rPr lang="en-US" altLang="zh-CN">
                    <a:sym typeface="+mn-ea"/>
                  </a:rPr>
                  <a:t>² on exports, North Atlantic basin</a:t>
                </a:r>
                <a:endParaRPr lang="en-US" altLang="zh-CN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0" y="1299845"/>
                <a:ext cx="4321810" cy="6470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图片 68" descr="es_basin_B_North_Atlantic_Region_y_y_exp_raw_x_E_geo_sq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675" y="2313940"/>
            <a:ext cx="4316730" cy="312166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2750" y="626110"/>
            <a:ext cx="6430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Effect of Geographic </a:t>
            </a:r>
            <a:r>
              <a:rPr lang="en-US" altLang="zh-CN" sz="1400">
                <a:sym typeface="+mn-ea"/>
              </a:rPr>
              <a:t>exposure on exports, North Atlantic basin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149985"/>
            <a:ext cx="480441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095375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12750" y="241300"/>
            <a:ext cx="11518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Result and Anaysis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94555" y="1007110"/>
            <a:ext cx="7468870" cy="5908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Network position:</a:t>
            </a:r>
            <a:r>
              <a:rPr lang="en-US" altLang="zh-CN"/>
              <a:t> Nordic–Arctic ports sit at the far end of the Asia–Europe trunk line – they receive the “last leg” of Asia–Europe services.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Traffic mix: </a:t>
            </a:r>
            <a:r>
              <a:rPr lang="en-US" altLang="zh-CN"/>
              <a:t>their container flows are heavily concentrated in inbound boxes from Asia, especially on Suez-based Asia–Europe routes.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Limited substitution:</a:t>
            </a:r>
            <a:r>
              <a:rPr lang="en-US" altLang="zh-CN"/>
              <a:t> these ports are the key gateways for their hinterlands, so shippers have few realistic options to switch to nearby ports and move cargo inland instead.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Mechanical delay:</a:t>
            </a:r>
            <a:r>
              <a:rPr lang="en-US" altLang="zh-CN"/>
              <a:t> when services are rerouted via the Cape, each voyage lengthens from T to T+ΔT; ships and cargo still come, but they arrive one to two months later.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b="1"/>
              <a:t>Dynamic pattern:</a:t>
            </a:r>
            <a:r>
              <a:rPr lang="en-US" altLang="zh-CN"/>
              <a:t> in the transition, calls that “should” arrive in early months are pushed back </a:t>
            </a:r>
            <a:r>
              <a:rPr lang="en-US" altLang="en-US"/>
              <a:t>→</a:t>
            </a:r>
            <a:r>
              <a:rPr lang="en-US" altLang="zh-CN"/>
              <a:t> short-run gaps (large negative coefficients), then bunching in later months (large positive overshoot), and finally a new steady state with calls back near baseline.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745" y="1300480"/>
            <a:ext cx="4321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>
                <a:sym typeface="+mn-ea"/>
              </a:rPr>
              <a:t>Effect of E² on port calls, Nordic–Arctic Shelf basin</a:t>
            </a:r>
            <a:endParaRPr lang="en-US" altLang="zh-CN"/>
          </a:p>
        </p:txBody>
      </p:sp>
      <p:pic>
        <p:nvPicPr>
          <p:cNvPr id="71" name="图片 70" descr="es_scheme_A_basin_F_Nordic_Arctic_Shelf_y_y_calls_ln_x_E_sq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45" y="2306320"/>
            <a:ext cx="4550410" cy="331025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2750" y="626110"/>
            <a:ext cx="64306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>
                <a:sym typeface="+mn-ea"/>
              </a:rPr>
              <a:t>Effect of E² on port calls, Nordic–Arctic Shelf basin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1"/>
            </p:custDataLst>
          </p:nvPr>
        </p:nvSpPr>
        <p:spPr>
          <a:xfrm>
            <a:off x="186055" y="1149985"/>
            <a:ext cx="4390390" cy="862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186055" y="1095375"/>
            <a:ext cx="1268095" cy="716915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>
              <p:custDataLst>
                <p:tags r:id="rId3"/>
              </p:custDataLst>
            </p:nvPr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4"/>
              </p:custDataLst>
            </p:nvPr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80060" y="242570"/>
            <a:ext cx="11518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Result and Anaysis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694555" y="1036955"/>
                <a:ext cx="7468870" cy="59842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Within-basin heterogeneity:</a:t>
                </a:r>
                <a:r>
                  <a:rPr lang="en-US" altLang="zh-CN"/>
                  <a:t> in Suez–Red–Aden, the key margin is network role – high-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 ports were core transit and bunkering hubs on the Red Sea/Suez corridor, while low-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 ports mainly served local traffic.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Route-level adjustment:</a:t>
                </a:r>
                <a:r>
                  <a:rPr lang="en-US" altLang="zh-CN"/>
                  <a:t> the Asia–Europe trunk line is rerouted around the Cape, so the mainline no longer enters this basin at all; core hubs are collectively taken offline.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Geography vs network: </a:t>
                </a:r>
                <a:r>
                  <a:rPr lang="en-US" altLang="zh-CN"/>
                  <a:t>once the corridor is bypassed, a port’s exact location inside the basin matters little – what drives traffic collapse is how deeply it was embedded in the pre-shock network.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Contrast to other basins:</a:t>
                </a:r>
                <a:r>
                  <a:rPr lang="en-US" altLang="zh-CN"/>
                  <a:t> Asian and Nordic ports remain origins or end-points and mainly face timing shifts; North Atlantic ports adjust export volumes; Suez–Red–Aden ports instead experience a network-level removal from the corridor, leading to a near-permanent drop in calls for high-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 nodes.</a:t>
                </a:r>
                <a:endParaRPr lang="en-US" altLang="zh-CN"/>
              </a:p>
              <a:p>
                <a:pPr marL="285750" indent="-28575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555" y="1036955"/>
                <a:ext cx="7468870" cy="598424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680085" y="1277620"/>
                <a:ext cx="3985260" cy="676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800">
                    <a:sym typeface="+mn-ea"/>
                  </a:rPr>
                  <a:t>Effect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charset="0"/>
                            <a:sym typeface="+mn-ea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charset="0"/>
                            <a:sym typeface="+mn-ea"/>
                          </a:rPr>
                          <m:t>net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charset="0"/>
                        <a:sym typeface="+mn-ea"/>
                      </a:rPr>
                      <m:t> </m:t>
                    </m:r>
                  </m:oMath>
                </a14:m>
                <a:r>
                  <a:rPr lang="en-US" altLang="zh-CN" sz="1800">
                    <a:sym typeface="+mn-ea"/>
                  </a:rPr>
                  <a:t>on port calls, Suez–Red–Aden basin</a:t>
                </a:r>
                <a:endParaRPr lang="en-US" altLang="zh-CN" sz="1800">
                  <a:sym typeface="+mn-ea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85" y="1277620"/>
                <a:ext cx="3985260" cy="67691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es_scheme_C_basin_F_Suez_Red_Aden_y_y_calls_ln_x_E_net_l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90" y="2428875"/>
            <a:ext cx="4338955" cy="320040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80060" y="626110"/>
                <a:ext cx="6430645" cy="314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Effect of geographic detour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charset="0"/>
                            <a:ea typeface="Arial" panose="020B0604020202020204" pitchFamily="3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Arial" panose="020B0604020202020204" pitchFamily="34" charset="0"/>
                    <a:sym typeface="+mn-ea"/>
                  </a:rPr>
                  <a:t> on exports, North Atlantic basin</a:t>
                </a:r>
                <a:endPara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626110"/>
                <a:ext cx="6430645" cy="31432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35085" y="4437380"/>
            <a:ext cx="2232660" cy="1696085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5199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747520" y="2308225"/>
            <a:ext cx="1635760" cy="1591945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Arial" panose="020B0604020202020204" pitchFamily="34" charset="0"/>
              </a:rPr>
              <a:t>5</a:t>
            </a:r>
            <a:endParaRPr lang="en-US" altLang="zh-CN" sz="13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83280" y="2466340"/>
            <a:ext cx="4681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1C4885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Conclusion </a:t>
            </a:r>
            <a:endParaRPr lang="en-US" altLang="zh-CN" sz="48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168254" y="3367404"/>
            <a:ext cx="1265555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981450" y="3438525"/>
            <a:ext cx="821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Port resilience under the Red Sea shock</a:t>
            </a:r>
            <a:endParaRPr lang="en-US" altLang="zh-CN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326513" y="300358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12750" y="472440"/>
            <a:ext cx="11518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Conclusion – Port resilience under the Red Sea shock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675380" y="1019175"/>
                <a:ext cx="8488045" cy="592518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Overall impact: </a:t>
                </a:r>
                <a:r>
                  <a:rPr lang="en-US" altLang="zh-CN"/>
                  <a:t>The Red Sea shock generates sizeable medium-run losses at highly exposed ports, with flat pre-trends and only partial recovery within one year.</a:t>
                </a:r>
                <a:endParaRPr lang="en-US" altLang="zh-CN"/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Heterogeneous mechanisms:</a:t>
                </a:r>
                <a:endParaRPr lang="en-US" altLang="zh-CN" b="1"/>
              </a:p>
              <a:p>
                <a:pPr marL="742950" lvl="1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East/Southeast Asia and Nordic–Arctic gateways:</a:t>
                </a:r>
                <a:r>
                  <a:rPr lang="en-US" altLang="zh-CN"/>
                  <a:t> pipeline-type timing shifts (front-loading, short-run gaps, then catch-up).</a:t>
                </a:r>
                <a:endParaRPr lang="en-US" altLang="zh-CN"/>
              </a:p>
              <a:p>
                <a:pPr marL="742950" lvl="1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North Atlantic exporters:</a:t>
                </a:r>
                <a:r>
                  <a:rPr lang="en-US" altLang="zh-CN"/>
                  <a:t> geography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𝒈𝒆𝒐</m:t>
                        </m:r>
                      </m:sub>
                    </m:sSub>
                  </m:oMath>
                </a14:m>
                <a:r>
                  <a:rPr lang="en-US" altLang="en-US"/>
                  <a:t>²</a:t>
                </a:r>
                <a:r>
                  <a:rPr lang="en-US" altLang="zh-CN"/>
                  <a:t>) drives sustained cuts in Asia-bound exports.</a:t>
                </a:r>
                <a:endParaRPr lang="en-US" altLang="zh-CN"/>
              </a:p>
              <a:p>
                <a:pPr marL="742950" lvl="1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/>
                  <a:t>Suez–Red–Aden chokepoint:</a:t>
                </a:r>
                <a:r>
                  <a:rPr lang="en-US" altLang="zh-CN"/>
                  <a:t> network exposure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𝐸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en-US" altLang="zh-CN"/>
                  <a:t>) drives a near-permanent collapse in calls.</a:t>
                </a:r>
                <a:endParaRPr lang="en-US" altLang="zh-CN"/>
              </a:p>
              <a:p>
                <a:pPr marL="285750" lvl="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tx1"/>
                    </a:solidFill>
                    <a:ea typeface="Arial" panose="020B0604020202020204" pitchFamily="34" charset="0"/>
                  </a:rPr>
                  <a:t>Network vs geography:</a:t>
                </a:r>
                <a:r>
                  <a:rPr lang="en-US" altLang="zh-CN">
                    <a:solidFill>
                      <a:schemeClr val="tx1"/>
                    </a:solidFill>
                    <a:ea typeface="Arial" panose="020B0604020202020204" pitchFamily="34" charset="0"/>
                  </a:rPr>
                  <a:t> Network embedding matters most at chokepoints and gateway segments, while geographic detour costs matter where detour length varies widely and trades are long-haul.</a:t>
                </a:r>
                <a:endParaRPr lang="en-US" altLang="zh-CN">
                  <a:solidFill>
                    <a:schemeClr val="tx1"/>
                  </a:solidFill>
                  <a:ea typeface="Arial" panose="020B0604020202020204" pitchFamily="34" charset="0"/>
                </a:endParaRPr>
              </a:p>
              <a:p>
                <a:pPr marL="285750" lvl="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tx1"/>
                    </a:solidFill>
                    <a:ea typeface="Arial" panose="020B0604020202020204" pitchFamily="34" charset="0"/>
                  </a:rPr>
                  <a:t>Resilience implications: </a:t>
                </a:r>
                <a:r>
                  <a:rPr lang="en-US" altLang="zh-CN">
                    <a:solidFill>
                      <a:schemeClr val="tx1"/>
                    </a:solidFill>
                    <a:ea typeface="Arial" panose="020B0604020202020204" pitchFamily="34" charset="0"/>
                  </a:rPr>
                  <a:t>Policies should distinguish pipeline delays, detour-driven demand loss and network removal – requiring different tools for capacity management at gateways, support for exposed exporters, and risk and routing management at chokepoints.</a:t>
                </a:r>
                <a:endParaRPr lang="en-US" altLang="zh-CN">
                  <a:solidFill>
                    <a:schemeClr val="tx1"/>
                  </a:solidFill>
                  <a:ea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80" y="1019175"/>
                <a:ext cx="8488045" cy="592518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" y="2178050"/>
            <a:ext cx="3275330" cy="267081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8265" y="584200"/>
            <a:ext cx="11969750" cy="5969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Achurra-Gonzalez, P. E., Angeloudis, P., Goldbeck, N., Graham, D. J., Zavitsas, K., &amp; Stettler, M. E. J. (2019). Evaluation of port disruption impacts in the global liner shipping network. Journal of Shipping and Trade, 4, 3.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Arkolakis, C., Costinot, A., &amp; Rodr</a:t>
            </a:r>
            <a:r>
              <a:rPr lang="en-US" altLang="en-US" sz="1400"/>
              <a:t>í</a:t>
            </a:r>
            <a:r>
              <a:rPr lang="en-US" altLang="zh-CN" sz="1400"/>
              <a:t>guez-Clare, A. (2012). New trade models, same old gains? American Economic Review, 102(1), 94–130.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Attinasi, M. G., Boeckelmann, L., Emter, L., Ferrari Minesso, M., Gerinovics, R., Gunnella, V., Meunier, B., &amp; Serafini, R. (2024, April 26). Sailing through storms: The fallout of Red Sea disruptions for global trade and inflation. VoxEU.org.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Bai, X., Ma, Z., &amp; Zhou, Y. (2023). Data-driven static and dynamic resilience assessment of the global liner shipping network. Transportation Research Part E: Logistics and Transportation Review, 170, 103016.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Bai, X., Xu, M., Han, T., &amp; Yang, D. (2022). Quantifying the impact of pandemic lockdown policies on global port calls. Transportation Research Part A: Policy and Practice, 164, 224–241.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Carri</a:t>
            </a:r>
            <a:r>
              <a:rPr lang="en-US" altLang="en-US" sz="1400"/>
              <a:t>è</a:t>
            </a:r>
            <a:r>
              <a:rPr lang="en-US" altLang="zh-CN" sz="1400"/>
              <a:t>re‑Swallow, Y., Deb, P., Furceri, D., Jim</a:t>
            </a:r>
            <a:r>
              <a:rPr lang="en-US" altLang="en-US" sz="1400"/>
              <a:t>é</a:t>
            </a:r>
            <a:r>
              <a:rPr lang="en-US" altLang="zh-CN" sz="1400"/>
              <a:t>nez, D., &amp; Ostry, J. D. (2022). Shipping costs and inflation (IMF Working Paper No. 2022/061). International Monetary Fund.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Dunn, J., &amp; Leibovici, F. (2024, February 7). Global trade implications of Red Sea shipping disruptions. On the Economy (Federal Reserve Bank of St. Louis Blog).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European Central Bank. (2024, February 21). Economic Bulletin, Issue 2/2024.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European Central Bank. (2024, March). ECB staff macroeconomic projections for the euro area, March 2024.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European Parliamentary Research Service. (2024, March 27). Recent threats in the Red Sea: Economic impact on the region.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Faure, M.-A., &amp; Ducruet, C. (2025). The Blue Connection: A systematic and critical review of shipping network research. Networks and Spatial Economics. Advance online publication. 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r>
              <a:rPr lang="en-US" altLang="zh-CN" sz="1400"/>
              <a:t>Hamano, M., &amp; Vermeulen, W. N. (2020). Natural disasters and trade: The mitigating impact of port substitution. Journal of Economic Geography, 20(3), 809–856.</a:t>
            </a:r>
            <a:endParaRPr lang="en-US" altLang="zh-CN" sz="1400"/>
          </a:p>
          <a:p>
            <a:pPr indent="-457200" fontAlgn="auto">
              <a:lnSpc>
                <a:spcPct val="80000"/>
              </a:lnSpc>
            </a:pPr>
            <a:endParaRPr lang="en-US" altLang="zh-CN" sz="1400"/>
          </a:p>
        </p:txBody>
      </p:sp>
      <p:sp>
        <p:nvSpPr>
          <p:cNvPr id="3" name="文本框 2"/>
          <p:cNvSpPr txBox="1"/>
          <p:nvPr/>
        </p:nvSpPr>
        <p:spPr>
          <a:xfrm>
            <a:off x="164465" y="143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72085" y="176530"/>
            <a:ext cx="11770995" cy="6525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Hugot, J., &amp; Umana Dajud, C. (2016). Trade costs and the Suez and Panama Canals (CEPII Working Paper No. 2016‑29). CEPII.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International Monetary Fund. (2024). Monthly port‑level traffic flows at risk from trade disruption in the Red Sea \[Map]. PortWatch.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Kamali, P., Koepke, R., Sozzi, A., &amp; Verschuur, J. (2024, March 7). Red Sea attacks disrupt global trade. IMF Blog.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Korniyenko, Y., Pinat, M., &amp; Dew, B. (2017). Assessing the fragility of global trade: The impact of localized supply shocks using network analysis (IMF Working Paper No. 17/30). International Monetary Fund.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Notteboom, T., Haralambides, H., &amp; Cullinane, K. (2024). The Red Sea crisis: Ramifications for vessel operations, shipping networks, and maritime supply chains. Maritime Economics &amp; Logistics, 26(1), 1–20.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Pratson, L. F. (2023). Assessing impacts to maritime shipping from marine chokepoint closures. Communications in Transportation Research, 3, 100083.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United Nations Conference on Trade and Development. (2023). Review of Maritime Transport 2023. United Nations.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United Nations Conference on Trade and Development. (2024). Review of Maritime Transport 2024. United Nations.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United Nations Conference on Trade and Development. (2024, February 22). Navigating troubled waters: Impact to global trade of disruption of shipping routes in the Red Sea, Black Sea and Panama Canal (UNCTAD rapid assessment No. UNCTAD/OSG/INF/2024/2).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United Nations Conference on Trade and Development. (2025). Liner Shipping Connectivity Index (LSCI) &amp; Port LSCI (PLSCI) — Data Insights.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United Nations Security Council. (2024, March 18). Security Council press statement on the situation in the Red Sea (SC/15631).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U.S. Energy Information Administration. (2024, June 11). Red Sea disruptions increase oil flows around the Cape of Good Hope. Today in Energy.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Verschuur, J., Koks, E. E., &amp; Hall, J. W. (2020). Port disruptions due to natural disasters: Insights into port and logistics resilience. Transportation Research Part D: Transport and Environment, 85, 102393.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Verschuur, J., Koks, E. E., &amp; Hall, J. W. (2022). Ports’ criticality in international trade and global supply‑chains. Nature Communications, 13, 4351.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r>
              <a:rPr lang="en-US" altLang="zh-CN" sz="1400">
                <a:sym typeface="+mn-ea"/>
              </a:rPr>
              <a:t>Verschuur, J., &amp; Hall, J. (2024). Systemic impacts of disruptions at maritime chokepoints (Version 1). Research Square preprint. </a:t>
            </a: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/>
          </a:p>
          <a:p>
            <a:pPr>
              <a:lnSpc>
                <a:spcPct val="80000"/>
              </a:lnSpc>
            </a:pPr>
            <a:endParaRPr lang="en-US" altLang="zh-CN" sz="1400">
              <a:sym typeface="+mn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07010" y="797560"/>
            <a:ext cx="11568430" cy="2670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70000"/>
              </a:lnSpc>
            </a:pPr>
            <a:r>
              <a:rPr lang="en-US" altLang="zh-CN" sz="1400">
                <a:sym typeface="+mn-ea"/>
              </a:rPr>
              <a:t>Wang, L., Zhang, S., &amp; Chen, R. (2022). Network vulnerability of ports around the South China Sea and the impact on Chinese maritime transport. World Regional Studies, 31(4), 700–712. </a:t>
            </a:r>
            <a:endParaRPr lang="en-US" altLang="zh-CN" sz="1400"/>
          </a:p>
          <a:p>
            <a:pPr>
              <a:lnSpc>
                <a:spcPct val="70000"/>
              </a:lnSpc>
            </a:pPr>
            <a:endParaRPr lang="en-US" altLang="zh-CN" sz="1400"/>
          </a:p>
          <a:p>
            <a:pPr>
              <a:lnSpc>
                <a:spcPct val="70000"/>
              </a:lnSpc>
            </a:pPr>
            <a:r>
              <a:rPr lang="en-US" altLang="zh-CN" sz="1400">
                <a:sym typeface="+mn-ea"/>
              </a:rPr>
              <a:t>Wang, N., Dong, L., Wu, N., &amp; Yan, H. (2016). The change of global container shipping network vulnerability under intentional attack \[蓄意攻击下全球集装箱海运网络脆弱性变化]. Acta Geographica Sinica, 71(2), 293–303. </a:t>
            </a:r>
            <a:endParaRPr lang="en-US" altLang="zh-CN" sz="1400"/>
          </a:p>
          <a:p>
            <a:pPr>
              <a:lnSpc>
                <a:spcPct val="70000"/>
              </a:lnSpc>
            </a:pPr>
            <a:endParaRPr lang="en-US" altLang="zh-CN" sz="1400"/>
          </a:p>
          <a:p>
            <a:pPr>
              <a:lnSpc>
                <a:spcPct val="70000"/>
              </a:lnSpc>
            </a:pPr>
            <a:r>
              <a:rPr lang="en-US" altLang="zh-CN" sz="1400">
                <a:sym typeface="+mn-ea"/>
              </a:rPr>
              <a:t>Wang, Z., Fang, Z., Yu, J., Hu, X., &amp; Gong, J. (2024). Red Sea crisis impacts on maritime shipping networks. Heliyon, 10(22), e40384. </a:t>
            </a:r>
            <a:endParaRPr lang="en-US" altLang="zh-CN" sz="1400"/>
          </a:p>
          <a:p>
            <a:pPr>
              <a:lnSpc>
                <a:spcPct val="70000"/>
              </a:lnSpc>
            </a:pPr>
            <a:endParaRPr lang="en-US" altLang="zh-CN" sz="1400"/>
          </a:p>
          <a:p>
            <a:pPr>
              <a:lnSpc>
                <a:spcPct val="70000"/>
              </a:lnSpc>
            </a:pPr>
            <a:r>
              <a:rPr lang="en-US" altLang="zh-CN" sz="1400">
                <a:sym typeface="+mn-ea"/>
              </a:rPr>
              <a:t>World Bank. (2024, April). Dire Strait: The far‑reaching impact of the Red Sea shipping crisis (MENA FCV Economic Series Brief No. 1). </a:t>
            </a:r>
            <a:endParaRPr lang="en-US" altLang="zh-CN" sz="1400"/>
          </a:p>
          <a:p>
            <a:pPr>
              <a:lnSpc>
                <a:spcPct val="70000"/>
              </a:lnSpc>
            </a:pPr>
            <a:endParaRPr lang="en-US" altLang="zh-CN" sz="1400"/>
          </a:p>
          <a:p>
            <a:pPr>
              <a:lnSpc>
                <a:spcPct val="70000"/>
              </a:lnSpc>
            </a:pPr>
            <a:r>
              <a:rPr lang="en-US" altLang="zh-CN" sz="1400">
                <a:sym typeface="+mn-ea"/>
              </a:rPr>
              <a:t>Wu, D., Yu, C., Zhao, Y., &amp; Guo, J. (2024). Changes in vulnerability of global container shipping networks before and after the COVID‑19 pandemic. Journal of Transport Geography, 114, 103783. </a:t>
            </a:r>
            <a:endParaRPr lang="en-US" altLang="zh-CN" sz="1400"/>
          </a:p>
          <a:p>
            <a:pPr>
              <a:lnSpc>
                <a:spcPct val="70000"/>
              </a:lnSpc>
            </a:pPr>
            <a:endParaRPr lang="en-US" altLang="zh-CN" sz="1400"/>
          </a:p>
          <a:p>
            <a:pPr algn="l">
              <a:lnSpc>
                <a:spcPct val="80000"/>
              </a:lnSpc>
              <a:buClrTx/>
              <a:buSzTx/>
              <a:buNone/>
            </a:pPr>
            <a:r>
              <a:rPr lang="en-US" altLang="zh-CN" sz="1400">
                <a:sym typeface="+mn-ea"/>
              </a:rPr>
              <a:t>Xu, M., Pan, Q., Muscoloni, A., Xia, H., &amp; Cannistraci, C. V. (2020). Modular gateway‑ness connectivity and structural core organization in maritime network science. Nature </a:t>
            </a:r>
            <a:r>
              <a:rPr lang="en-US" altLang="zh-CN" sz="1400">
                <a:sym typeface="+mn-ea"/>
              </a:rPr>
              <a:t>Communications, 11, 2849. </a:t>
            </a:r>
            <a:endParaRPr lang="en-US" altLang="zh-CN" sz="1400">
              <a:sym typeface="+mn-ea"/>
            </a:endParaRPr>
          </a:p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46799FB-52B8-4698-BECF-01ADD9E846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2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3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4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5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6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7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8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9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10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11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12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13.xml><?xml version="1.0" encoding="utf-8"?>
<p:tagLst xmlns:p="http://schemas.openxmlformats.org/presentationml/2006/main">
  <p:tag name="KSO_WM_DIAGRAM_VIRTUALLY_FRAME" val="{&quot;height&quot;:302.548031496063,&quot;left&quot;:62.70850393700782,&quot;top&quot;:164.90196850393698,&quot;width&quot;:843.5664566929138}"/>
</p:tagLst>
</file>

<file path=ppt/tags/tag1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5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7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9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0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1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2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3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5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27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28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29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0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1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32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3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4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5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6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7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8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39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0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1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2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3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4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5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46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47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48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49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50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51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52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53.xml><?xml version="1.0" encoding="utf-8"?>
<p:tagLst xmlns:p="http://schemas.openxmlformats.org/presentationml/2006/main">
  <p:tag name="KSO_WM_DIAGRAM_VIRTUALLY_FRAME" val="{&quot;height&quot;:426.03307086614177,&quot;left&quot;:17.991968503937006,&quot;top&quot;:85.78055118110235,&quot;width&quot;:887.4106299212599}"/>
</p:tagLst>
</file>

<file path=ppt/tags/tag54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55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56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57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58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59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0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1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2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3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4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5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6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7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68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69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70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71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72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73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74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75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76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77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78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79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80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1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2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83.xml><?xml version="1.0" encoding="utf-8"?>
<p:tagLst xmlns:p="http://schemas.openxmlformats.org/presentationml/2006/main">
  <p:tag name="KSO_WM_DIAGRAM_VIRTUALLY_FRAME" val="{&quot;height&quot;:420.8194488188977,&quot;left&quot;:321.641968503937,&quot;top&quot;:77.33055118110232,&quot;width&quot;:627.158031496063}"/>
</p:tagLst>
</file>

<file path=ppt/tags/tag84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5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6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7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8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89.xml><?xml version="1.0" encoding="utf-8"?>
<p:tagLst xmlns:p="http://schemas.openxmlformats.org/presentationml/2006/main">
  <p:tag name="KSO_WM_DIAGRAM_VIRTUALLY_FRAME" val="{&quot;height&quot;:328.4392913385826,&quot;left&quot;:87.0967716535433,&quot;top&quot;:150.41779527559055,&quot;width&quot;:787.3548031496063}"/>
</p:tagLst>
</file>

<file path=ppt/tags/tag90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91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92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93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9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95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9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97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98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99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0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1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02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3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4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5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06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7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0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09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10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11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2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3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15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6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7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1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19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20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21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22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23.xml><?xml version="1.0" encoding="utf-8"?>
<p:tagLst xmlns:p="http://schemas.openxmlformats.org/presentationml/2006/main">
  <p:tag name="KSO_WM_DIAGRAM_VIRTUALLY_FRAME" val="{&quot;height&quot;:408.7,&quot;left&quot;:17.481732283464567,&quot;top&quot;:104.1,&quot;width&quot;:914.2181889763779}"/>
</p:tagLst>
</file>

<file path=ppt/tags/tag124.xml><?xml version="1.0" encoding="utf-8"?>
<p:tagLst xmlns:p="http://schemas.openxmlformats.org/presentationml/2006/main">
  <p:tag name="TABLE_ENDDRAG_ORIGIN_RECT" val="221*371"/>
  <p:tag name="TABLE_ENDDRAG_RECT" val="48*131*221*371"/>
</p:tagLst>
</file>

<file path=ppt/tags/tag125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2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27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2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29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30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1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2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3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3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5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7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3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39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0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1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42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3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4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5.xml><?xml version="1.0" encoding="utf-8"?>
<p:tagLst xmlns:p="http://schemas.openxmlformats.org/presentationml/2006/main">
  <p:tag name="KSO_WM_DIAGRAM_VIRTUALLY_FRAME" val="{&quot;height&quot;:368.95834645669294,&quot;left&quot;:26.031732283464567,&quot;top&quot;:129.44165354330707,&quot;width&quot;:905.6681889763779}"/>
</p:tagLst>
</file>

<file path=ppt/tags/tag146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7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8.xml><?xml version="1.0" encoding="utf-8"?>
<p:tagLst xmlns:p="http://schemas.openxmlformats.org/presentationml/2006/main">
  <p:tag name="KSO_WM_DIAGRAM_VIRTUALLY_FRAME" val="{&quot;height&quot;:353.90047244094484,&quot;left&quot;:486.4317322834646,&quot;top&quot;:129.44165354330707,&quot;width&quot;:445.26818897637787}"/>
</p:tagLst>
</file>

<file path=ppt/tags/tag149.xml><?xml version="1.0" encoding="utf-8"?>
<p:tagLst xmlns:p="http://schemas.openxmlformats.org/presentationml/2006/main">
  <p:tag name="ISPRING_PRESENTATION_TITLE" val="蓝色简洁毕业答辩PPT模板"/>
  <p:tag name="resource_record_key" val="{&quot;10&quot;:[50017201,21539032,3635391,20210653,50034667,2159685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30516</Words>
  <Application>WPS 演示</Application>
  <PresentationFormat>宽屏</PresentationFormat>
  <Paragraphs>1001</Paragraphs>
  <Slides>36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Arial</vt:lpstr>
      <vt:lpstr>宋体</vt:lpstr>
      <vt:lpstr>Wingdings</vt:lpstr>
      <vt:lpstr>Cambria Math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</dc:creator>
  <dc:description>http://www.ypppt.com/</dc:description>
  <cp:lastModifiedBy>色氨酸合成酶A蛋白质</cp:lastModifiedBy>
  <cp:revision>36</cp:revision>
  <dcterms:created xsi:type="dcterms:W3CDTF">2018-02-27T12:12:00Z</dcterms:created>
  <dcterms:modified xsi:type="dcterms:W3CDTF">2025-11-19T05:42:47Z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68A171A5BC4D4534A9DEBADBB4867973_13</vt:lpwstr>
  </property>
  <property fmtid="{D5CDD505-2E9C-101B-9397-08002B2CF9AE}" pid="3" name="KSOProductBuildVer">
    <vt:lpwstr>2052-12.1.0.23542</vt:lpwstr>
  </property>
</Properties>
</file>